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309" r:id="rId2"/>
    <p:sldId id="377" r:id="rId3"/>
    <p:sldId id="411" r:id="rId4"/>
    <p:sldId id="412" r:id="rId5"/>
    <p:sldId id="387" r:id="rId6"/>
    <p:sldId id="388" r:id="rId7"/>
    <p:sldId id="414" r:id="rId8"/>
    <p:sldId id="415" r:id="rId9"/>
    <p:sldId id="416" r:id="rId10"/>
    <p:sldId id="417" r:id="rId11"/>
    <p:sldId id="394" r:id="rId12"/>
    <p:sldId id="398" r:id="rId13"/>
    <p:sldId id="399" r:id="rId14"/>
    <p:sldId id="400" r:id="rId15"/>
    <p:sldId id="402" r:id="rId16"/>
    <p:sldId id="401" r:id="rId17"/>
    <p:sldId id="403" r:id="rId18"/>
    <p:sldId id="374" r:id="rId19"/>
    <p:sldId id="357" r:id="rId20"/>
    <p:sldId id="372" r:id="rId21"/>
    <p:sldId id="391" r:id="rId22"/>
    <p:sldId id="375" r:id="rId23"/>
    <p:sldId id="392" r:id="rId24"/>
    <p:sldId id="393" r:id="rId25"/>
    <p:sldId id="418" r:id="rId26"/>
    <p:sldId id="376" r:id="rId27"/>
    <p:sldId id="420" r:id="rId28"/>
    <p:sldId id="421" r:id="rId29"/>
    <p:sldId id="419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gSOnBTX3+4WX6EN1RkpxStfZz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48" autoAdjust="0"/>
  </p:normalViewPr>
  <p:slideViewPr>
    <p:cSldViewPr snapToGrid="0">
      <p:cViewPr varScale="1">
        <p:scale>
          <a:sx n="66" d="100"/>
          <a:sy n="66" d="100"/>
        </p:scale>
        <p:origin x="193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a Rocha" userId="190b7ccf4a003b3b" providerId="LiveId" clId="{88F75F10-EEC7-4A7E-A77F-5B7266B80D9B}"/>
    <pc:docChg chg="modSld">
      <pc:chgData name="Fabiana Rocha" userId="190b7ccf4a003b3b" providerId="LiveId" clId="{88F75F10-EEC7-4A7E-A77F-5B7266B80D9B}" dt="2026-04-19T21:32:24.204" v="9" actId="20577"/>
      <pc:docMkLst>
        <pc:docMk/>
      </pc:docMkLst>
      <pc:sldChg chg="modSp mod">
        <pc:chgData name="Fabiana Rocha" userId="190b7ccf4a003b3b" providerId="LiveId" clId="{88F75F10-EEC7-4A7E-A77F-5B7266B80D9B}" dt="2026-04-19T21:32:24.204" v="9" actId="20577"/>
        <pc:sldMkLst>
          <pc:docMk/>
          <pc:sldMk cId="3035361705" sldId="309"/>
        </pc:sldMkLst>
        <pc:spChg chg="mod">
          <ac:chgData name="Fabiana Rocha" userId="190b7ccf4a003b3b" providerId="LiveId" clId="{88F75F10-EEC7-4A7E-A77F-5B7266B80D9B}" dt="2026-04-19T21:32:24.204" v="9" actId="20577"/>
          <ac:spMkLst>
            <pc:docMk/>
            <pc:sldMk cId="3035361705" sldId="309"/>
            <ac:spMk id="5" creationId="{52CDC657-271F-8645-8014-B7C246A6B2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27714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E517-D236-4E3E-909C-EAAF4316CC70}" type="datetimeFigureOut">
              <a:rPr lang="pt-BR" smtClean="0"/>
              <a:pPr/>
              <a:t>19/04/2026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9510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8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" name="Google Shape;13;p28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5" name="Google Shape;15;p2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6" name="Google Shape;16;p2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;p2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8;p2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" name="Google Shape;19;p2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0" name="Google Shape;20;p2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" name="Google Shape;21;p2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22;p2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23;p2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4" name="Google Shape;24;p2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" name="Google Shape;25;p2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" name="Google Shape;26;p2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27;p2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28;p2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" name="Google Shape;29;p2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" name="Google Shape;30;p2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" name="Google Shape;31;p2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32;p2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33;p2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34;p2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" name="Google Shape;35;p2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6" name="Google Shape;36;p2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7" name="Google Shape;37;p2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" name="Google Shape;38;p2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" name="Google Shape;39;p2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" name="Google Shape;40;p2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1" name="Google Shape;41;p2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2" name="Google Shape;42;p2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3" name="Google Shape;43;p2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4" name="Google Shape;44;p2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5" name="Google Shape;45;p2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" name="Google Shape;46;p2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47;p2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48;p2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9" name="Google Shape;49;p2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Google Shape;50;p2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1" name="Google Shape;51;p2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52;p2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53;p2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54;p2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55;p2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56;p2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57;p2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58;p2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59;p2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0" name="Google Shape;60;p2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1" name="Google Shape;61;p2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2" name="Google Shape;62;p2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3" name="Google Shape;63;p2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4" name="Google Shape;64;p2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65" name="Google Shape;65;p28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6" name="Google Shape;66;p28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8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8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8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70;p28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" name="Google Shape;71;p28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8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8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4" name="Google Shape;74;p28"/>
              <p:cNvSpPr/>
              <p:nvPr/>
            </p:nvSpPr>
            <p:spPr>
              <a:xfrm rot="5400000">
                <a:off x="5096" y="3346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Google Shape;7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520"/>
              <a:buFont typeface="Noto Sans Symbol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2CDC657-271F-8645-8014-B7C246A6B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Aula 11 e aula 12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E6EB705-FDEA-C954-5CA8-733351FAC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420" y="3309938"/>
            <a:ext cx="5388980" cy="891672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  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Regressão múltipla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80BD90-C7C6-7456-F737-5FD04A24F7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36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Lembrando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8248"/>
                <a:ext cx="8229600" cy="2743200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3000" dirty="0"/>
                  <a:t>Nosso objetivo é 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30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3000" dirty="0"/>
                  <a:t> que é um parâmetro populacional que descreve a relação entre </a:t>
                </a:r>
                <a:r>
                  <a:rPr lang="pt-BR" sz="3000" i="1" dirty="0"/>
                  <a:t>y</a:t>
                </a:r>
                <a:r>
                  <a:rPr lang="pt-BR" sz="3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30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pt-BR" sz="30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3000" dirty="0"/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3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3000" i="1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30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3000" dirty="0"/>
                  <a:t> é uma estimativa daquele parâmetro obtida para uma amostra específica</a:t>
                </a:r>
              </a:p>
            </p:txBody>
          </p:sp>
        </mc:Choice>
        <mc:Fallback xmlns="">
          <p:sp>
            <p:nvSpPr>
              <p:cNvPr id="3" name="Espaço Reservado para Tex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8248"/>
                <a:ext cx="8229600" cy="2743200"/>
              </a:xfrm>
              <a:blipFill>
                <a:blip r:embed="rId2"/>
                <a:stretch>
                  <a:fillRect l="-1852" t="-4222" r="-1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66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54DD-D9F5-A52F-0894-3EB4C44E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Estimação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8A1DA1A2-9F83-BBBA-A1AD-48A111EAAE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51949"/>
                <a:ext cx="7772400" cy="3558679"/>
              </a:xfrm>
            </p:spPr>
            <p:txBody>
              <a:bodyPr/>
              <a:lstStyle/>
              <a:p>
                <a:pPr marL="77153" indent="0">
                  <a:spcBef>
                    <a:spcPts val="0"/>
                  </a:spcBef>
                  <a:buNone/>
                </a:pPr>
                <a:r>
                  <a:rPr lang="pt-BR" sz="2800" dirty="0"/>
                  <a:t>No caso de um modelo linear bivariado do tipo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 , o estimador de MQO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assume a expressão simples</a:t>
                </a:r>
              </a:p>
              <a:p>
                <a:pPr marL="77153" indent="0">
                  <a:spcBef>
                    <a:spcPts val="0"/>
                  </a:spcBef>
                  <a:buNone/>
                </a:pPr>
                <a:endParaRPr lang="pt-BR" sz="2800" dirty="0"/>
              </a:p>
              <a:p>
                <a:pPr marL="77153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pt-BR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8A1DA1A2-9F83-BBBA-A1AD-48A111EAA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51949"/>
                <a:ext cx="7772400" cy="3558679"/>
              </a:xfrm>
              <a:blipFill>
                <a:blip r:embed="rId2"/>
                <a:stretch>
                  <a:fillRect l="-627" t="-18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486266-0175-FAEF-9E54-7CC8BCB3F5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97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26E9F-2E2C-3D1A-D5FD-361FA948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4B4FF078-275B-A6BA-C629-768CE6E55C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979271"/>
                <a:ext cx="8229600" cy="2847372"/>
              </a:xfrm>
            </p:spPr>
            <p:txBody>
              <a:bodyPr/>
              <a:lstStyle/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sz="2800" dirty="0"/>
                  <a:t>No caso de um modelo linear multivariado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 , o estimador de MQO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/>
                  <a:t> assume a expressão </a:t>
                </a:r>
              </a:p>
              <a:p>
                <a:pPr marL="77153" indent="0" algn="just">
                  <a:spcBef>
                    <a:spcPts val="0"/>
                  </a:spcBef>
                  <a:buNone/>
                </a:pPr>
                <a:endParaRPr lang="pt-BR" sz="28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pt-BR" sz="2800" dirty="0"/>
              </a:p>
              <a:p>
                <a:pPr marL="77153" indent="0" algn="just">
                  <a:buNone/>
                </a:pPr>
                <a:endParaRPr lang="pt-BR" dirty="0"/>
              </a:p>
              <a:p>
                <a:pPr marL="77153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4B4FF078-275B-A6BA-C629-768CE6E55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79271"/>
                <a:ext cx="8229600" cy="2847372"/>
              </a:xfrm>
              <a:blipFill>
                <a:blip r:embed="rId2"/>
                <a:stretch>
                  <a:fillRect l="-593" t="-2355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D42571-340A-556C-E7BE-288FE740F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1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E7305-3488-F475-CD80-B3DB3B78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80F0EFED-0263-B4E8-14B5-4C08668615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63524"/>
                <a:ext cx="8229600" cy="4004841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Um gráfico de dispersão bidimensional pode ser um dispositivo útil durante a construção do modelo de regressão para detectar, por exemplo, a presença de não linearidades ou dados anômalos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/>
                  <a:t>Quando o modelo inclui mais de uma variável independente, não há equivalente direto para a estimação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dirty="0"/>
                  <a:t> e o mesmo gráfico de dispersão bivariado entre a variável dependente e a variável independente de interesse se torna potencialmente enganadora porque, no caso geral, as variáveis independentes não são ortogonais entre elas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80F0EFED-0263-B4E8-14B5-4C0866861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63524"/>
                <a:ext cx="8229600" cy="4004841"/>
              </a:xfrm>
              <a:blipFill>
                <a:blip r:embed="rId2"/>
                <a:stretch>
                  <a:fillRect l="-1852" t="-4871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ADD6C4-2D92-94C0-099F-A06A85F66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41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E67CB-901F-1163-2509-9A3110D9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CD2EB9D-68BD-CA59-E539-AD8F23F5FE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724628"/>
                <a:ext cx="8229600" cy="443233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dirty="0"/>
                  <a:t>A maioria dos livros textos de econometria então limitam a fornecer a fórmula para o vetor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e descartam quaisquer descrições gráficas da relação de interesse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/>
                  <a:t>Essa formulação, contudo, revela pouco ou nada do que realmente acontece durante a estimação de um modelo multivariado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CD2EB9D-68BD-CA59-E539-AD8F23F5F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24628"/>
                <a:ext cx="8229600" cy="4432332"/>
              </a:xfrm>
              <a:blipFill>
                <a:blip r:embed="rId2"/>
                <a:stretch>
                  <a:fillRect l="-2222" t="-3026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3DC043-65A7-F1D4-B953-9CCA6915EC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95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83F69-C005-E4C1-5498-5BD7FA34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EE5195A1-F401-6C1B-F25A-E301796137D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75098"/>
                <a:ext cx="8229600" cy="3356659"/>
              </a:xfrm>
            </p:spPr>
            <p:txBody>
              <a:bodyPr/>
              <a:lstStyle/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dirty="0"/>
                  <a:t>Interpretação dos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’s de uma forma esclarecedora foi originalmente formulada por Frisch e </a:t>
                </a:r>
                <a:r>
                  <a:rPr lang="pt-BR" dirty="0" err="1"/>
                  <a:t>Waugh</a:t>
                </a:r>
                <a:r>
                  <a:rPr lang="pt-BR" dirty="0"/>
                  <a:t> (1933), revisitada por </a:t>
                </a:r>
                <a:r>
                  <a:rPr lang="pt-BR" dirty="0" err="1"/>
                  <a:t>Lovell</a:t>
                </a:r>
                <a:r>
                  <a:rPr lang="pt-BR" dirty="0"/>
                  <a:t> (1963) e  implementada em econometria por </a:t>
                </a:r>
                <a:r>
                  <a:rPr lang="pt-BR" dirty="0" err="1"/>
                  <a:t>Angrist</a:t>
                </a:r>
                <a:r>
                  <a:rPr lang="pt-BR" dirty="0"/>
                  <a:t> e </a:t>
                </a:r>
                <a:r>
                  <a:rPr lang="pt-BR" dirty="0" err="1"/>
                  <a:t>Prischke</a:t>
                </a:r>
                <a:r>
                  <a:rPr lang="pt-BR" dirty="0"/>
                  <a:t> (2009) sob a denominação “anatomia da regressão” 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EE5195A1-F401-6C1B-F25A-E30179613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75098"/>
                <a:ext cx="8229600" cy="3356659"/>
              </a:xfrm>
              <a:blipFill>
                <a:blip r:embed="rId2"/>
                <a:stretch>
                  <a:fillRect l="-963" t="-2545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3941B9-8315-D736-B3C8-2C217832B7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51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52FF2-58CD-614E-0FCA-C0DE64F8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17944"/>
          </a:xfrm>
        </p:spPr>
        <p:txBody>
          <a:bodyPr/>
          <a:lstStyle/>
          <a:p>
            <a:pPr algn="just"/>
            <a:endParaRPr lang="pt-BR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5EAE438-2C12-C2EC-B97E-328CD09A25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09600" y="1261641"/>
                <a:ext cx="8001000" cy="4294207"/>
              </a:xfrm>
            </p:spPr>
            <p:txBody>
              <a:bodyPr/>
              <a:lstStyle/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sz="2500" dirty="0"/>
                  <a:t>Reescrever o modelo de regressão múltipla:</a:t>
                </a:r>
              </a:p>
              <a:p>
                <a:pPr marL="77153" indent="0" algn="just">
                  <a:spcBef>
                    <a:spcPts val="0"/>
                  </a:spcBef>
                  <a:buNone/>
                </a:pPr>
                <a:endParaRPr lang="pt-BR" sz="25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sz="25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5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500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25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5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5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500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25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500" i="1">
                              <a:latin typeface="Cambria Math"/>
                            </a:rPr>
                            <m:t>+…+</m:t>
                          </m:r>
                          <m:r>
                            <a:rPr lang="pt-BR" sz="2500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5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pt-BR" sz="25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5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:endParaRPr lang="pt-BR" sz="25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sz="2500" dirty="0"/>
                  <a:t>Assumir uma regressão auxiliar na qual a variável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pt-BR" sz="2500" dirty="0"/>
                  <a:t> é regredida em todas as variáveis independentes remanescentes:</a:t>
                </a:r>
              </a:p>
              <a:p>
                <a:pPr marL="77153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a:rPr lang="pt-BR" sz="25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5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𝑘</m:t>
                                  </m:r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BR" sz="2500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5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𝑘</m:t>
                                  </m:r>
                                  <m:r>
                                    <a:rPr lang="pt-BR" sz="25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pt-BR" sz="2500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pt-BR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500" i="1">
                              <a:latin typeface="Cambria Math"/>
                            </a:rPr>
                            <m:t>+…+</m:t>
                          </m:r>
                          <m:r>
                            <a:rPr lang="pt-BR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𝑘</m:t>
                          </m:r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5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5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5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5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pt-BR" sz="25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pt-BR" sz="2500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pt-BR" sz="2500" dirty="0"/>
                  <a:t> é o resíduo desta regressão auxiliar</a:t>
                </a:r>
              </a:p>
              <a:p>
                <a:pPr marL="77153" indent="0" algn="just">
                  <a:buNone/>
                </a:pPr>
                <a:endParaRPr lang="pt-BR" dirty="0"/>
              </a:p>
              <a:p>
                <a:pPr marL="77153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5EAE438-2C12-C2EC-B97E-328CD09A2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261641"/>
                <a:ext cx="8001000" cy="4294207"/>
              </a:xfrm>
              <a:blipFill>
                <a:blip r:embed="rId2"/>
                <a:stretch>
                  <a:fillRect l="-305" t="-1278" r="-1142" b="-269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21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378D9-33D4-1F4D-DD5C-4022DA768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9DF20AA6-C97E-2B1A-EE83-3E4381BD447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782501"/>
                <a:ext cx="8229600" cy="4374459"/>
              </a:xfrm>
            </p:spPr>
            <p:txBody>
              <a:bodyPr/>
              <a:lstStyle/>
              <a:p>
                <a:pPr marL="77153" indent="0">
                  <a:spcBef>
                    <a:spcPts val="0"/>
                  </a:spcBef>
                  <a:buNone/>
                </a:pPr>
                <a:r>
                  <a:rPr lang="pt-BR" sz="2800" dirty="0"/>
                  <a:t>Então o parâmetro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/>
                  <a:t> pode ser escrito como:</a:t>
                </a:r>
              </a:p>
              <a:p>
                <a:pPr marL="77153" indent="0">
                  <a:spcBef>
                    <a:spcPts val="0"/>
                  </a:spcBef>
                  <a:buNone/>
                </a:pPr>
                <a:endParaRPr lang="pt-BR" sz="2800" dirty="0"/>
              </a:p>
              <a:p>
                <a:pPr marL="77153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800" dirty="0"/>
                  <a:t>      (1)</a:t>
                </a:r>
              </a:p>
              <a:p>
                <a:pPr marL="77153" indent="0" algn="just">
                  <a:spcBef>
                    <a:spcPts val="0"/>
                  </a:spcBef>
                  <a:buNone/>
                </a:pPr>
                <a:endParaRPr lang="pt-BR" sz="2800" dirty="0"/>
              </a:p>
              <a:p>
                <a:pPr marL="77153" indent="0" algn="just">
                  <a:spcBef>
                    <a:spcPts val="0"/>
                  </a:spcBef>
                  <a:buNone/>
                </a:pPr>
                <a:r>
                  <a:rPr lang="pt-BR" sz="2800" dirty="0"/>
                  <a:t>Fórmula mostra que cada coeficiente numa regressão multivariada é o coeficiente de inclinação bivariado para o </a:t>
                </a:r>
                <a:r>
                  <a:rPr lang="pt-BR" sz="2800" dirty="0" err="1"/>
                  <a:t>regressor</a:t>
                </a:r>
                <a:r>
                  <a:rPr lang="pt-BR" sz="2800" dirty="0"/>
                  <a:t> correspondente depois de “isoladas” todas as outras </a:t>
                </a:r>
                <a:r>
                  <a:rPr lang="pt-BR" sz="2800" dirty="0" err="1"/>
                  <a:t>covariadas</a:t>
                </a:r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9DF20AA6-C97E-2B1A-EE83-3E4381BD4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82501"/>
                <a:ext cx="8229600" cy="4374459"/>
              </a:xfrm>
              <a:blipFill>
                <a:blip r:embed="rId2"/>
                <a:stretch>
                  <a:fillRect l="-593" t="-1393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0D654E-A6A5-4B3D-F6AA-B494FD644C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24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04443-A294-D3AE-218A-BF448E66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79048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1FB98677-8C43-DD16-7C48-084DB3C0B9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4937759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Pensar num modelo com duas variáveis explicativas para facilitar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2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Os resíduos na fórmula (1) são os que obtemos da regressão da  primeira variável independente,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, sobre a segunda variável independente,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2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Depois fazemos uma regressão simples de y nesses resíduos para obter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2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Os resíduos são a parte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que é não correlacionada 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, ou dito de outra forma, 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após o efeito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 ter sido isolado, deduzido (</a:t>
                </a:r>
                <a:r>
                  <a:rPr lang="pt-BR" sz="2200" i="1" dirty="0" err="1"/>
                  <a:t>partialled</a:t>
                </a:r>
                <a:r>
                  <a:rPr lang="pt-BR" sz="2200" i="1" dirty="0"/>
                  <a:t> out</a:t>
                </a:r>
                <a:r>
                  <a:rPr lang="pt-BR" sz="2200" dirty="0"/>
                  <a:t>, </a:t>
                </a:r>
                <a:r>
                  <a:rPr lang="pt-BR" sz="2200" i="1" dirty="0" err="1"/>
                  <a:t>netted</a:t>
                </a:r>
                <a:r>
                  <a:rPr lang="pt-BR" sz="2200" i="1" dirty="0"/>
                  <a:t> out </a:t>
                </a:r>
                <a:r>
                  <a:rPr lang="pt-BR" sz="2200" dirty="0"/>
                  <a:t>em inglês)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Para propósitos práticos, o importante é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mede a variação em y, dado um aumento de uma unidade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, mantendo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 fixo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200" dirty="0"/>
                  <a:t>No modelo geral com k variáveis explicativas,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mede o efeito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sobre y depois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200" dirty="0"/>
                  <a:t> terem sido isolados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1FB98677-8C43-DD16-7C48-084DB3C0B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4937759"/>
              </a:xfrm>
              <a:blipFill>
                <a:blip r:embed="rId2"/>
                <a:stretch>
                  <a:fillRect l="-2222" t="-5185" r="-963" b="-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3389BF-6B46-5FAC-E432-27A934D2AC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5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79A01-A098-7C8D-C814-A81DFBE2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972BF9-713E-E584-EB00-D76AE8639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82501"/>
            <a:ext cx="8229600" cy="3472406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/>
              <a:t>O resultado é poderoso porque ele estabelece a possibilidade de quebrar um modelo multivariado com </a:t>
            </a:r>
            <a:r>
              <a:rPr lang="pt-BR" sz="2800" i="1" dirty="0"/>
              <a:t>k</a:t>
            </a:r>
            <a:r>
              <a:rPr lang="pt-BR" sz="2800" dirty="0"/>
              <a:t> variáveis independentes em </a:t>
            </a:r>
            <a:r>
              <a:rPr lang="pt-BR" sz="2800" i="1" dirty="0"/>
              <a:t>k</a:t>
            </a:r>
            <a:r>
              <a:rPr lang="pt-BR" sz="2800" dirty="0"/>
              <a:t> modelos bivariados mais simples e também porque joga luz sobre a mecânica do MQO multivariado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Essa propriedade é simplesmente numérica do estimador que vale por causa da álgebra envolvida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6FE989-D667-A9AA-B3AE-BC493E3CF4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38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72F56-529F-017E-3CD1-569DF1F9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Exemplo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ADDC77-621A-1C8D-CCA6-683B48F36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43605"/>
            <a:ext cx="8229600" cy="4317358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/>
              <a:t>Estimação de um modelo hedônico simples para o preço de carros a partir de suas características técnicas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Variável dependente: </a:t>
            </a:r>
            <a:r>
              <a:rPr lang="pt-BR" sz="2800" i="1" dirty="0" err="1"/>
              <a:t>price</a:t>
            </a:r>
            <a:r>
              <a:rPr lang="pt-BR" sz="2800" dirty="0"/>
              <a:t> = preço de venda dos carros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Variáveis independentes :</a:t>
            </a:r>
          </a:p>
          <a:p>
            <a:pPr marL="77153" indent="0" algn="just">
              <a:spcBef>
                <a:spcPts val="0"/>
              </a:spcBef>
              <a:buNone/>
            </a:pPr>
            <a:r>
              <a:rPr lang="pt-BR" sz="2800" i="1" dirty="0" err="1"/>
              <a:t>length</a:t>
            </a:r>
            <a:r>
              <a:rPr lang="pt-BR" sz="2800" dirty="0"/>
              <a:t> = comprimento</a:t>
            </a:r>
          </a:p>
          <a:p>
            <a:pPr marL="77153" indent="0" algn="just">
              <a:spcBef>
                <a:spcPts val="0"/>
              </a:spcBef>
              <a:buNone/>
            </a:pPr>
            <a:r>
              <a:rPr lang="pt-BR" sz="2800" i="1" dirty="0" err="1"/>
              <a:t>mpg</a:t>
            </a:r>
            <a:r>
              <a:rPr lang="pt-BR" sz="2800" dirty="0"/>
              <a:t> = consumo (autonomia) do carro   </a:t>
            </a:r>
          </a:p>
          <a:p>
            <a:pPr marL="77153" indent="0" algn="just">
              <a:spcBef>
                <a:spcPts val="0"/>
              </a:spcBef>
              <a:buNone/>
            </a:pPr>
            <a:r>
              <a:rPr lang="pt-BR" sz="2800" i="1" dirty="0" err="1"/>
              <a:t>weight</a:t>
            </a:r>
            <a:r>
              <a:rPr lang="pt-BR" sz="2800" dirty="0"/>
              <a:t> = peso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66A1EF-3A0A-F00C-F3A1-F4699B5190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07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A7703-F66C-154B-AFD1-4C5AC2C9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A9C45856-CEF3-D835-D94D-864896F36D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32031"/>
                <a:ext cx="8229600" cy="4536504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Efeito do comprimento do carro sobre o seu preço</a:t>
                </a: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dirty="0"/>
                  <a:t> estimado é positivo e igual a 57</a:t>
                </a: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cada polegada adicional, um carro é em média $57 mais caro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A9C45856-CEF3-D835-D94D-864896F36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32031"/>
                <a:ext cx="8229600" cy="4536504"/>
              </a:xfrm>
              <a:blipFill>
                <a:blip r:embed="rId2"/>
                <a:stretch>
                  <a:fillRect l="-1852" t="-4301" r="-2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09482D-33DC-E64D-79F9-5CAF565B4B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CDD33A-65A6-712D-D069-C3EC886F7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53" y="3357561"/>
            <a:ext cx="7243345" cy="248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8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49632-0A8C-228C-AA33-895C78BB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0542"/>
          </a:xfrm>
        </p:spPr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000EBF0-AC68-0AC6-83B0-0BCA5FA6A6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481559"/>
                <a:ext cx="8229600" cy="4675401"/>
              </a:xfrm>
            </p:spPr>
            <p:txBody>
              <a:bodyPr/>
              <a:lstStyle/>
              <a:p>
                <a:pPr algn="just"/>
                <a:r>
                  <a:rPr lang="pt-BR" sz="2400" dirty="0"/>
                  <a:t>Porque outras características técnicas podem influenciar o preço de venda, incluir a autonomia do carro e o peso como controles</a:t>
                </a:r>
              </a:p>
              <a:p>
                <a:pPr algn="just"/>
                <a:r>
                  <a:rPr lang="pt-BR" sz="2400" dirty="0"/>
                  <a:t>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400" dirty="0"/>
                  <a:t> estimado é agora é negativo e igual a - 104</a:t>
                </a:r>
              </a:p>
              <a:p>
                <a:pPr algn="just"/>
                <a:endParaRPr lang="pt-BR" sz="1500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000EBF0-AC68-0AC6-83B0-0BCA5FA6A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1559"/>
                <a:ext cx="8229600" cy="4675401"/>
              </a:xfrm>
              <a:blipFill>
                <a:blip r:embed="rId2"/>
                <a:stretch>
                  <a:fillRect l="-2222" t="-3129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F6F70-3BF1-95A4-DF5D-251B2EE2B2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D7E714-AF3C-05A7-AE51-1524BBAC7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77" y="3429000"/>
            <a:ext cx="7280476" cy="246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09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99463-5559-1D3F-3361-1B9956D9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53D4B4D-2A55-5353-1454-6462DC15CB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17224"/>
                <a:ext cx="8229600" cy="433973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000" dirty="0"/>
                  <a:t>De acordo com a discussão anterior esta última estimativa de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2000" dirty="0"/>
                  <a:t> pode ser obtida em dois estágios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000" dirty="0"/>
                  <a:t>No primeiro estágio regredir </a:t>
                </a:r>
                <a:r>
                  <a:rPr lang="pt-BR" sz="2000" i="1" dirty="0" err="1"/>
                  <a:t>length</a:t>
                </a:r>
                <a:r>
                  <a:rPr lang="pt-BR" sz="2000" dirty="0"/>
                  <a:t> em </a:t>
                </a:r>
                <a:r>
                  <a:rPr lang="pt-BR" sz="2000" i="1" dirty="0" err="1"/>
                  <a:t>mpg</a:t>
                </a:r>
                <a:r>
                  <a:rPr lang="pt-BR" sz="2000" dirty="0"/>
                  <a:t> e </a:t>
                </a:r>
                <a:r>
                  <a:rPr lang="pt-BR" sz="2000" i="1" dirty="0" err="1"/>
                  <a:t>weight</a:t>
                </a:r>
                <a:endParaRPr lang="pt-BR" sz="2000" i="1" dirty="0"/>
              </a:p>
              <a:p>
                <a:pPr marL="77153" indent="0" algn="just">
                  <a:buNone/>
                </a:pPr>
                <a:endParaRPr lang="pt-BR" sz="1500" dirty="0"/>
              </a:p>
              <a:p>
                <a:pPr marL="77153" indent="0" algn="just">
                  <a:buNone/>
                </a:pPr>
                <a:endParaRPr lang="pt-BR" sz="1800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53D4B4D-2A55-5353-1454-6462DC15C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17224"/>
                <a:ext cx="8229600" cy="4339735"/>
              </a:xfrm>
              <a:blipFill>
                <a:blip r:embed="rId2"/>
                <a:stretch>
                  <a:fillRect l="-2222" t="-6320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51B9D6-ADE7-D275-5A49-561A5AD4E9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461485-782F-ED8E-4F5D-C08247CDD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136739"/>
            <a:ext cx="6893689" cy="25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0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EFFDA-B258-8A16-7AB9-E3DEB323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9A41717-03EC-AFA5-B102-5F22419697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89904"/>
                <a:ext cx="8229600" cy="446705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1800" dirty="0"/>
                  <a:t>No segundo estágio obtemos os resíduos de </a:t>
                </a:r>
                <a:r>
                  <a:rPr lang="pt-BR" sz="1800" i="1" dirty="0" err="1"/>
                  <a:t>length</a:t>
                </a:r>
                <a:r>
                  <a:rPr lang="pt-BR" sz="1800" dirty="0"/>
                  <a:t> (</a:t>
                </a:r>
                <a:r>
                  <a:rPr lang="pt-BR" sz="1800" i="1" dirty="0" err="1"/>
                  <a:t>reslength</a:t>
                </a:r>
                <a:r>
                  <a:rPr lang="pt-BR" sz="1800" dirty="0"/>
                  <a:t>) e então regredimos o preço nestes resíduos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1800" dirty="0"/>
                  <a:t>O valor de </a:t>
                </a: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pt-B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obtido dessa regressão é igual ao obtido do modelo multivariado (erros padrão são diferentes por causa dos graus de liberdade usado nos cálculos)</a:t>
                </a:r>
              </a:p>
              <a:p>
                <a:pPr marL="77153" indent="0" algn="just">
                  <a:buNone/>
                </a:pPr>
                <a:endParaRPr lang="pt-BR" sz="1800" dirty="0"/>
              </a:p>
              <a:p>
                <a:pPr marL="77153" indent="0">
                  <a:buNone/>
                </a:pPr>
                <a:endParaRPr lang="pt-BR" dirty="0"/>
              </a:p>
              <a:p>
                <a:pPr marL="77153" indent="0">
                  <a:buNone/>
                </a:pPr>
                <a:endParaRPr lang="pt-BR" dirty="0"/>
              </a:p>
              <a:p>
                <a:pPr marL="77153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F9A41717-03EC-AFA5-B102-5F2241969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89904"/>
                <a:ext cx="8229600" cy="4467056"/>
              </a:xfrm>
              <a:blipFill>
                <a:blip r:embed="rId2"/>
                <a:stretch>
                  <a:fillRect l="-1852" t="-5866" r="-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B81F0C-733D-A8D1-8720-D4F103487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ECF8D25-1941-425C-8D05-26E19ACD9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183038"/>
            <a:ext cx="7368251" cy="251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3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71738-9BB9-2302-ED72-B31714B0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56841"/>
          </a:xfrm>
        </p:spPr>
        <p:txBody>
          <a:bodyPr/>
          <a:lstStyle/>
          <a:p>
            <a:pPr algn="just"/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Comando </a:t>
            </a:r>
            <a:r>
              <a:rPr lang="pt-BR" sz="3600" dirty="0" err="1">
                <a:solidFill>
                  <a:schemeClr val="accent1">
                    <a:lumMod val="75000"/>
                  </a:schemeClr>
                </a:solidFill>
              </a:rPr>
              <a:t>reganat</a:t>
            </a:r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 do </a:t>
            </a:r>
            <a:r>
              <a:rPr lang="pt-BR" sz="3600" dirty="0" err="1">
                <a:solidFill>
                  <a:schemeClr val="accent1">
                    <a:lumMod val="75000"/>
                  </a:schemeClr>
                </a:solidFill>
              </a:rPr>
              <a:t>Stata</a:t>
            </a:r>
            <a:endParaRPr lang="pt-BR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5A97CB-9886-96AA-4DBC-A3F961118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9242"/>
            <a:ext cx="8229600" cy="4617718"/>
          </a:xfrm>
        </p:spPr>
        <p:txBody>
          <a:bodyPr/>
          <a:lstStyle/>
          <a:p>
            <a:pPr marL="534353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Usa a </a:t>
            </a:r>
            <a:r>
              <a:rPr lang="en-US" sz="2000" dirty="0" err="1"/>
              <a:t>decomposição</a:t>
            </a:r>
            <a:r>
              <a:rPr lang="en-US" sz="2000" dirty="0"/>
              <a:t> do </a:t>
            </a:r>
            <a:r>
              <a:rPr lang="en-US" sz="2000" dirty="0" err="1"/>
              <a:t>teorema</a:t>
            </a:r>
            <a:r>
              <a:rPr lang="en-US" sz="2000" dirty="0"/>
              <a:t> da “</a:t>
            </a:r>
            <a:r>
              <a:rPr lang="en-US" sz="2000" dirty="0" err="1"/>
              <a:t>autonomia</a:t>
            </a:r>
            <a:r>
              <a:rPr lang="en-US" sz="2000" dirty="0"/>
              <a:t> da </a:t>
            </a:r>
            <a:r>
              <a:rPr lang="en-US" sz="2000" dirty="0" err="1"/>
              <a:t>regressão</a:t>
            </a:r>
            <a:r>
              <a:rPr lang="en-US" sz="2000" dirty="0"/>
              <a:t>” para </a:t>
            </a:r>
            <a:r>
              <a:rPr lang="en-US" sz="2000" dirty="0" err="1"/>
              <a:t>fazer</a:t>
            </a:r>
            <a:r>
              <a:rPr lang="en-US" sz="2000" dirty="0"/>
              <a:t> um </a:t>
            </a:r>
            <a:r>
              <a:rPr lang="en-US" sz="2000" dirty="0" err="1"/>
              <a:t>gráfico</a:t>
            </a:r>
            <a:r>
              <a:rPr lang="en-US" sz="2000" dirty="0"/>
              <a:t> bidimensional da </a:t>
            </a:r>
            <a:r>
              <a:rPr lang="en-US" sz="2000" dirty="0" err="1"/>
              <a:t>relação</a:t>
            </a:r>
            <a:r>
              <a:rPr lang="en-US" sz="2000" dirty="0"/>
              <a:t> entre </a:t>
            </a:r>
            <a:r>
              <a:rPr lang="en-US" sz="2000" dirty="0" err="1"/>
              <a:t>preço</a:t>
            </a:r>
            <a:r>
              <a:rPr lang="en-US" sz="2000" dirty="0"/>
              <a:t> e </a:t>
            </a:r>
            <a:r>
              <a:rPr lang="en-US" sz="2000" dirty="0" err="1"/>
              <a:t>comprimento</a:t>
            </a:r>
            <a:r>
              <a:rPr lang="en-US" sz="2000" dirty="0"/>
              <a:t>, </a:t>
            </a:r>
            <a:r>
              <a:rPr lang="en-US" sz="2000" dirty="0" err="1"/>
              <a:t>embora</a:t>
            </a:r>
            <a:r>
              <a:rPr lang="en-US" sz="2000" dirty="0"/>
              <a:t> o </a:t>
            </a:r>
            <a:r>
              <a:rPr lang="en-US" sz="2000" dirty="0" err="1"/>
              <a:t>modelo</a:t>
            </a:r>
            <a:r>
              <a:rPr lang="en-US" sz="2000" dirty="0"/>
              <a:t> original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sendo</a:t>
            </a:r>
            <a:r>
              <a:rPr lang="en-US" sz="2000" dirty="0"/>
              <a:t> </a:t>
            </a:r>
            <a:r>
              <a:rPr lang="en-US" sz="2000" dirty="0" err="1"/>
              <a:t>usado</a:t>
            </a:r>
            <a:r>
              <a:rPr lang="en-US" sz="2000" dirty="0"/>
              <a:t> </a:t>
            </a:r>
            <a:r>
              <a:rPr lang="en-US" sz="2000" dirty="0" err="1"/>
              <a:t>seja</a:t>
            </a:r>
            <a:r>
              <a:rPr lang="en-US" sz="2000" dirty="0"/>
              <a:t> </a:t>
            </a:r>
            <a:r>
              <a:rPr lang="en-US" sz="2000" dirty="0" err="1"/>
              <a:t>multivariado</a:t>
            </a:r>
            <a:endParaRPr lang="en-US" sz="2000" dirty="0"/>
          </a:p>
          <a:p>
            <a:pPr marL="534353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7153" indent="0" algn="just">
              <a:spcBef>
                <a:spcPts val="0"/>
              </a:spcBef>
              <a:buNone/>
            </a:pPr>
            <a:endParaRPr lang="en-US" sz="2000" dirty="0"/>
          </a:p>
          <a:p>
            <a:pPr marL="77153" indent="0" algn="just">
              <a:spcBef>
                <a:spcPts val="0"/>
              </a:spcBef>
              <a:buNone/>
            </a:pPr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B662D7-D4AE-3C67-7E5B-2FDC15A98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2C6D9E-2DDD-7C62-1988-4D6B338F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81" y="2604304"/>
            <a:ext cx="7234177" cy="35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4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Grau de ajuste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39018"/>
                <a:ext cx="8229600" cy="4517941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Assim como no caso de regressão simples, podemos definir a soma dos quadrados total (SQT),  a soma dos quadrados explicada (SQE) e a soma dos quadrados dos resíduos (SQR) como: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SQT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pt-BR" sz="240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m:rPr>
                                <m:brk m:alnAt="23"/>
                              </m:rP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pt-BR" sz="2400" dirty="0">
                  <a:solidFill>
                    <a:schemeClr val="tx2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SQE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i="1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BR" sz="2400" i="1" smtClean="0">
                                        <a:solidFill>
                                          <a:schemeClr val="tx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tx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2400" i="1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pt-BR" sz="2400" i="1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i="1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m:rPr>
                                <m:brk m:alnAt="23"/>
                              </m:rP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pt-BR" sz="2400" dirty="0">
                  <a:solidFill>
                    <a:schemeClr val="tx2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SQR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BR" sz="240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pt-BR" sz="240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pt-BR" sz="240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b="0" i="1" smtClean="0">
                                    <a:solidFill>
                                      <a:schemeClr val="tx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pt-BR" sz="2400" dirty="0">
                  <a:solidFill>
                    <a:schemeClr val="tx2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Usando os mesmos argumentos podemos mostrar que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SQT = SQE +SQR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Ou seja a variação total em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 é a soma das variações totais em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i="1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 e em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solidFill>
                                  <a:schemeClr val="tx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pt-BR" sz="2400" i="1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i="1">
                        <a:solidFill>
                          <a:schemeClr val="tx2">
                            <a:lumMod val="10000"/>
                          </a:schemeClr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>
                    <a:solidFill>
                      <a:schemeClr val="tx2">
                        <a:lumMod val="1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39018"/>
                <a:ext cx="8229600" cy="4517941"/>
              </a:xfrm>
              <a:blipFill>
                <a:blip r:embed="rId2"/>
                <a:stretch>
                  <a:fillRect l="-1111" t="-1080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69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156E3-994F-45BF-A7C4-6EBE13CE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11430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7395802-9B37-4D71-AAAE-D6610E3C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F95B278-142E-4BAA-AF4E-BF217B4364C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32857"/>
                <a:ext cx="8229600" cy="4201886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tx1"/>
                    </a:solidFill>
                  </a:rPr>
                  <a:t>Assumindo que a variável total em </a:t>
                </a:r>
                <a:r>
                  <a:rPr lang="pt-BR" sz="2800" i="1" dirty="0">
                    <a:solidFill>
                      <a:schemeClr val="tx1"/>
                    </a:solidFill>
                  </a:rPr>
                  <a:t>y</a:t>
                </a:r>
                <a:r>
                  <a:rPr lang="pt-BR" sz="2800" dirty="0">
                    <a:solidFill>
                      <a:schemeClr val="tx1"/>
                    </a:solidFill>
                  </a:rPr>
                  <a:t> é diferente de zero, podemos escrever: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p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𝑆𝑄𝐸</m:t>
                          </m:r>
                        </m:num>
                        <m:den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𝑆𝑄𝑇</m:t>
                          </m:r>
                        </m:den>
                      </m:f>
                      <m:r>
                        <a:rPr lang="pt-BR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𝑆𝑄𝑅</m:t>
                          </m:r>
                        </m:num>
                        <m:den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𝑆𝑄𝑇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tx1"/>
                    </a:solidFill>
                  </a:rPr>
                  <a:t>Interpretação é a mesma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tx1"/>
                    </a:solidFill>
                  </a:rPr>
                  <a:t>Por definição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 é um número entre zero e um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tx1"/>
                    </a:solidFill>
                  </a:rPr>
                  <a:t>Podemos mostrar que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é igual ao quadrado do coeficiente de correlação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F95B278-142E-4BAA-AF4E-BF217B436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32857"/>
                <a:ext cx="8229600" cy="4201886"/>
              </a:xfrm>
              <a:blipFill>
                <a:blip r:embed="rId2"/>
                <a:stretch>
                  <a:fillRect l="-1852" t="-1597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276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B5A57-AA6B-418C-8784-ED755650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1"/>
            <a:ext cx="7772400" cy="827314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0CF08D1-5705-4999-AD15-CBD8637B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306287"/>
                <a:ext cx="8229600" cy="412568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tx1"/>
                    </a:solidFill>
                  </a:rPr>
                  <a:t>Fato algébrico: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tx1"/>
                    </a:solidFill>
                  </a:rPr>
                  <a:t> nunca decresce e geralmente cresce quando outra variável independente é adicionada à regressão. Por definição, a soma dos quadrados dos resíduos nunca aumenta quando variáveis independentes são adicionadas ao modelo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tx1"/>
                    </a:solidFill>
                  </a:rPr>
                  <a:t>Este fato faz com que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tx1"/>
                    </a:solidFill>
                  </a:rPr>
                  <a:t> seja um instrumento limitado para decidir se uma variável ou várias variáveis deveriam ser adicionadas a um modelo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tx1"/>
                    </a:solidFill>
                  </a:rPr>
                  <a:t>Uma variável explicativa pertence a um modelo se essa variável tem um efeito parcial sobre y diferente de zero na população. Em breve vamos discutir como testar isso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306287"/>
                <a:ext cx="8229600" cy="4125686"/>
              </a:xfrm>
              <a:blipFill>
                <a:blip r:embed="rId2"/>
                <a:stretch>
                  <a:fillRect l="-2222" t="-5465" r="-1111" b="-31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126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1D5B798-5F18-4D44-9629-09A5F0DBFC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304800"/>
                <a:ext cx="7772400" cy="87351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3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600" dirty="0">
                    <a:solidFill>
                      <a:schemeClr val="accent1">
                        <a:lumMod val="75000"/>
                      </a:schemeClr>
                    </a:solidFill>
                  </a:rPr>
                  <a:t>ajustado: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sz="360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3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sz="3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1D5B798-5F18-4D44-9629-09A5F0DBF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304800"/>
                <a:ext cx="7772400" cy="873515"/>
              </a:xfrm>
              <a:blipFill>
                <a:blip r:embed="rId2"/>
                <a:stretch>
                  <a:fillRect b="-265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72A7C47-A9BE-461A-92D2-9C55914A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AC2F9C9-84CE-440A-AE53-79BE0030FC2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36915"/>
                <a:ext cx="8229600" cy="4890344"/>
              </a:xfrm>
            </p:spPr>
            <p:txBody>
              <a:bodyPr/>
              <a:lstStyle/>
              <a:p>
                <a:pPr marL="5081" indent="0" algn="just">
                  <a:buNone/>
                </a:pPr>
                <a:endParaRPr lang="pt-BR" sz="2800" dirty="0"/>
              </a:p>
              <a:p>
                <a:pPr marL="5081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=1−</m:t>
                    </m:r>
                    <m:sSup>
                      <m:sSup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/[</m:t>
                    </m:r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𝑆𝑄𝑇</m:t>
                    </m:r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/(n-1)]</a:t>
                </a:r>
              </a:p>
              <a:p>
                <a:pPr marL="5081" indent="0" algn="just">
                  <a:buNone/>
                </a:pPr>
                <a:endParaRPr lang="pt-BR" sz="28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tx1"/>
                    </a:solidFill>
                  </a:rPr>
                  <a:t>Principal atratividade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tx1"/>
                    </a:solidFill>
                  </a:rPr>
                  <a:t>ajustado: impor uma penalidade por adicionar variáveis independentes ao modelo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tx1"/>
                    </a:solidFill>
                  </a:rPr>
                  <a:t>O SQR nunca aumenta (e usualmente cai) à medida que mais variáveis são adicionadas. No entanto, se uma variável independente é adicionada à regressão, o SQR cai mas também diminuem os graus de liberdade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𝑆𝑄𝑅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/(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−1)</m:t>
                    </m:r>
                  </m:oMath>
                </a14:m>
                <a:r>
                  <a:rPr lang="pt-BR" sz="2400" dirty="0">
                    <a:solidFill>
                      <a:schemeClr val="tx1"/>
                    </a:solidFill>
                  </a:rPr>
                  <a:t> pode aumentar ou cair quando uma nova variável independente é introduzida na regressão</a:t>
                </a:r>
              </a:p>
              <a:p>
                <a:pPr algn="just"/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AC2F9C9-84CE-440A-AE53-79BE0030F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36915"/>
                <a:ext cx="8229600" cy="4890344"/>
              </a:xfrm>
              <a:blipFill>
                <a:blip r:embed="rId3"/>
                <a:stretch>
                  <a:fillRect l="-1852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963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>
                    <a:solidFill>
                      <a:schemeClr val="accent1">
                        <a:lumMod val="75000"/>
                      </a:schemeClr>
                    </a:solidFill>
                  </a:rPr>
                  <a:t>Fórmula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sz="3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3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sz="3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600" dirty="0">
                    <a:solidFill>
                      <a:schemeClr val="accent1">
                        <a:lumMod val="75000"/>
                      </a:schemeClr>
                    </a:solidFill>
                  </a:rPr>
                  <a:t> em função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3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6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1" b="-20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970314"/>
                <a:ext cx="8229600" cy="3254830"/>
              </a:xfrm>
            </p:spPr>
            <p:txBody>
              <a:bodyPr/>
              <a:lstStyle/>
              <a:p>
                <a:pPr marL="508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</m:acc>
                        </m:e>
                        <m:sup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=1−(1−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)(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−1)/(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𝑘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Para n pequeno e k grande,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pode ser bem menor do que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</a:rPr>
                  <a:t>Se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é pequeno  e n-k-1 é pequeno,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pode ser negativo</a:t>
                </a:r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970314"/>
                <a:ext cx="8229600" cy="3254830"/>
              </a:xfrm>
              <a:blipFill>
                <a:blip r:embed="rId3"/>
                <a:stretch>
                  <a:fillRect l="-1852" r="-2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760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Formas funcionais: mais sobre o uso de logaritmos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4709160"/>
              </a:xfrm>
            </p:spPr>
            <p:txBody>
              <a:bodyPr/>
              <a:lstStyle/>
              <a:p>
                <a:pPr marL="5081" indent="0">
                  <a:buNone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5081" indent="0">
                  <a:buNone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5081" indent="0">
                  <a:buNone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300" dirty="0">
                    <a:solidFill>
                      <a:schemeClr val="tx1"/>
                    </a:solidFill>
                  </a:rPr>
                  <a:t>Quando </a:t>
                </a:r>
                <a:r>
                  <a:rPr lang="pt-BR" sz="2300" i="1" dirty="0" err="1">
                    <a:solidFill>
                      <a:schemeClr val="tx1"/>
                    </a:solidFill>
                  </a:rPr>
                  <a:t>nox</a:t>
                </a:r>
                <a:r>
                  <a:rPr lang="pt-BR" sz="2300" i="1" dirty="0">
                    <a:solidFill>
                      <a:schemeClr val="tx1"/>
                    </a:solidFill>
                  </a:rPr>
                  <a:t> </a:t>
                </a:r>
                <a:r>
                  <a:rPr lang="pt-BR" sz="2300" dirty="0">
                    <a:solidFill>
                      <a:schemeClr val="tx1"/>
                    </a:solidFill>
                  </a:rPr>
                  <a:t>aumenta 1%, o preço cai 0,718%, mantido o número de quartos constante. Quando o número de quartos aumenta em 1, o preço aumenta aproximadamente 100*(0,306)=30,6%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300" dirty="0">
                    <a:solidFill>
                      <a:schemeClr val="tx1"/>
                    </a:solidFill>
                  </a:rPr>
                  <a:t>Estimativa do efeito do número de quartos sobre o preço é aproximada. Isto porque à medida que a mudança em log(y) se torna cada vez maior, a aproximação </a:t>
                </a:r>
                <a14:m>
                  <m:oMath xmlns:m="http://schemas.openxmlformats.org/officeDocument/2006/math"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</a:rPr>
                      <m:t>%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∆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𝑦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≈100.∆</m:t>
                    </m:r>
                    <m:r>
                      <m:rPr>
                        <m:sty m:val="p"/>
                      </m:rPr>
                      <a:rPr lang="pt-BR" sz="2300" b="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log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⁡(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𝑦</m:t>
                    </m:r>
                    <m:r>
                      <a:rPr lang="pt-BR" sz="23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pt-BR" sz="2300" dirty="0">
                    <a:solidFill>
                      <a:schemeClr val="tx1"/>
                    </a:solidFill>
                  </a:rPr>
                  <a:t> se torna cada vez menos precisa</a:t>
                </a:r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4709160"/>
              </a:xfrm>
              <a:blipFill>
                <a:blip r:embed="rId2"/>
                <a:stretch>
                  <a:fillRect l="-1852" r="-1037" b="-1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560" y="1687286"/>
            <a:ext cx="4076880" cy="114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5712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Mudança percentual exata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59788"/>
                <a:ext cx="8229600" cy="4397171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tx1"/>
                    </a:solidFill>
                  </a:rPr>
                  <a:t>É possível computar facilmente a mudança percentual exata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tx1"/>
                    </a:solidFill>
                  </a:rPr>
                  <a:t>Para descrever o procedimento usar o seguinte modelo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𝑙𝑜𝑔</m:t>
                        </m:r>
                      </m:e>
                    </m:acc>
                    <m:d>
                      <m:d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pt-BR" sz="2800" b="0" dirty="0">
                  <a:solidFill>
                    <a:schemeClr val="tx1"/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tx1"/>
                    </a:solidFill>
                  </a:rPr>
                  <a:t>Fixando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, temos </a:t>
                </a:r>
                <a14:m>
                  <m:oMath xmlns:m="http://schemas.openxmlformats.org/officeDocument/2006/math">
                    <m:r>
                      <a:rPr lang="pt-BR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pt-B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tx1"/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tx1"/>
                    </a:solidFill>
                  </a:rPr>
                  <a:t>Percentagem exata de mudança no </a:t>
                </a:r>
                <a:r>
                  <a:rPr lang="pt-BR" sz="2800" i="1" dirty="0">
                    <a:solidFill>
                      <a:schemeClr val="tx1"/>
                    </a:solidFill>
                  </a:rPr>
                  <a:t>y</a:t>
                </a:r>
                <a:r>
                  <a:rPr lang="pt-BR" sz="2800" dirty="0">
                    <a:solidFill>
                      <a:schemeClr val="tx1"/>
                    </a:solidFill>
                  </a:rPr>
                  <a:t> estimado: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pt-BR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pt-B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=100*[exp(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) - 1]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tx1"/>
                    </a:solidFill>
                  </a:rPr>
                  <a:t>Quando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=1,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pt-BR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pt-B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=100*[exp(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tx1"/>
                    </a:solidFill>
                  </a:rPr>
                  <a:t>) - 1]</a:t>
                </a:r>
              </a:p>
              <a:p>
                <a:pPr marL="5081" indent="0" algn="just">
                  <a:buNone/>
                </a:pPr>
                <a:endParaRPr lang="pt-BR" sz="2400" dirty="0"/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59788"/>
                <a:ext cx="8229600" cy="4397171"/>
              </a:xfrm>
              <a:blipFill>
                <a:blip r:embed="rId2"/>
                <a:stretch>
                  <a:fillRect l="-2222" t="-4161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33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Razões para usar o log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5D3EBD-A10E-4B59-BF41-6E071C3D198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56876"/>
            <a:ext cx="8229600" cy="4034324"/>
          </a:xfrm>
        </p:spPr>
        <p:txBody>
          <a:bodyPr/>
          <a:lstStyle/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tx1"/>
                </a:solidFill>
              </a:rPr>
              <a:t>1. Como já visto anteriormente, leva a coeficientes com interpretações interessantes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tx1"/>
                </a:solidFill>
              </a:rPr>
              <a:t>2. Variáveis dependentes estritamente positivas frequentemente possuem distribuições condicionais que são </a:t>
            </a:r>
            <a:r>
              <a:rPr lang="pt-BR" sz="2800" dirty="0" err="1">
                <a:solidFill>
                  <a:schemeClr val="tx1"/>
                </a:solidFill>
              </a:rPr>
              <a:t>heterocedásticas</a:t>
            </a:r>
            <a:r>
              <a:rPr lang="pt-BR" sz="2800" dirty="0">
                <a:solidFill>
                  <a:schemeClr val="tx1"/>
                </a:solidFill>
              </a:rPr>
              <a:t> ou concentradas. O uso do log pode aliviar ou até mesmo eliminar ambos os problemas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tx1"/>
                </a:solidFill>
              </a:rPr>
              <a:t>3. As estimativas se tornam menos sensíveis a observações extremas na variável dependente ou nas variáveis independentes</a:t>
            </a:r>
          </a:p>
        </p:txBody>
      </p:sp>
    </p:spTree>
    <p:extLst>
      <p:ext uri="{BB962C8B-B14F-4D97-AF65-F5344CB8AC3E}">
        <p14:creationId xmlns:p14="http://schemas.microsoft.com/office/powerpoint/2010/main" val="559097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Formas funcionais</a:t>
            </a:r>
            <a:br>
              <a:rPr lang="pt-BR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pt-BR" sz="3200" dirty="0">
                <a:solidFill>
                  <a:schemeClr val="accent1">
                    <a:lumMod val="75000"/>
                  </a:schemeClr>
                </a:solidFill>
              </a:rPr>
              <a:t>Modelos com funções quadráticas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29449"/>
                <a:ext cx="8229600" cy="372291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bg2"/>
                    </a:solidFill>
                  </a:rPr>
                  <a:t>Funções quadráticas são usadas com frequência em economia aplicada para captar efeitos marginais crescentes ou decrescentes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pt-BR" dirty="0">
                  <a:solidFill>
                    <a:schemeClr val="bg2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>
                  <a:solidFill>
                    <a:schemeClr val="bg2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pt-BR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)∆</m:t>
                    </m:r>
                    <m:r>
                      <a:rPr lang="pt-BR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>
                    <a:solidFill>
                      <a:schemeClr val="bg2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>
                    <a:solidFill>
                      <a:schemeClr val="bg2"/>
                    </a:solidFill>
                  </a:rPr>
                  <a:t>/</a:t>
                </a:r>
                <a:r>
                  <a:rPr lang="pt-BR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pt-BR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pt-BR" dirty="0">
                  <a:solidFill>
                    <a:schemeClr val="bg2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bg2"/>
                    </a:solidFill>
                  </a:rPr>
                  <a:t>Exemplo</a:t>
                </a:r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29449"/>
                <a:ext cx="8229600" cy="3722915"/>
              </a:xfrm>
              <a:blipFill>
                <a:blip r:embed="rId2"/>
                <a:stretch>
                  <a:fillRect l="-1852" t="-2623" r="-1852" b="-9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05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3700A-C600-C7AE-4845-8AADED0E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1143000"/>
          </a:xfrm>
        </p:spPr>
        <p:txBody>
          <a:bodyPr/>
          <a:lstStyle/>
          <a:p>
            <a:pPr algn="just"/>
            <a:r>
              <a:rPr lang="pt-BR" sz="4000" dirty="0">
                <a:solidFill>
                  <a:schemeClr val="accent1">
                    <a:lumMod val="75000"/>
                  </a:schemeClr>
                </a:solidFill>
              </a:rPr>
              <a:t>Parábola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A4CC3E3-4494-593F-CCD9-1D5019B7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5F74D5D-DE25-53D8-672F-DF29DB725F2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36204"/>
                <a:ext cx="8229600" cy="388909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𝑠𝑎𝑙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á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𝑟𝑖𝑜h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=3,73+0,298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𝑒𝑥𝑝𝑒𝑟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−0,061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𝑒𝑥𝑝𝑒𝑟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4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O primeiro ano de experiência vale aproximadamente 30 centavos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O segundo ano de experiência vale menos (28,6 centavos)</a:t>
                </a:r>
              </a:p>
              <a:p>
                <a:pPr algn="just"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𝐸𝑥𝑝𝑒𝑟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sz="2400" dirty="0"/>
                  <a:t>= 24,4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É possível que o retorno da experiência se torne negativo em algum ponto, mas  é difícil que isso ocorra aos 24 anos de experiência; mais provável é o que o efeito estimado de experiência sobre o salário seja viesado porque não se controlou por outros fatores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/>
              </a:p>
              <a:p>
                <a:pPr algn="just"/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5F74D5D-DE25-53D8-672F-DF29DB725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36204"/>
                <a:ext cx="8229600" cy="3889092"/>
              </a:xfrm>
              <a:blipFill>
                <a:blip r:embed="rId2"/>
                <a:stretch>
                  <a:fillRect l="-2222" t="-5956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584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42A0C-C383-74CE-D954-906F04BD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22960"/>
          </a:xfrm>
        </p:spPr>
        <p:txBody>
          <a:bodyPr/>
          <a:lstStyle/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Formato em U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F7A4D9A-117E-2091-281E-C3013EE9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3743F5E-98E2-27F6-9AE8-A9D772B050E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35262"/>
                <a:ext cx="8229600" cy="4721698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ç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e>
                    </m:func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=13,39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−0,902</m:t>
                    </m:r>
                    <m:func>
                      <m:func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𝑝𝑜𝑙𝑢𝑖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çã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e>
                    </m:func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−0,087</m:t>
                    </m:r>
                    <m:func>
                      <m:func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𝑑𝑖𝑠𝑡</m:t>
                            </m:r>
                          </m:e>
                        </m:d>
                      </m:e>
                    </m:func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−0,545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𝑞𝑢𝑎𝑟𝑡𝑜𝑠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+0,062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𝑞𝑢𝑎𝑟𝑡𝑜𝑠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−0,048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𝑠𝑡𝑟𝑎𝑡𝑖𝑜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pt-BR" sz="2400" dirty="0"/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Quando o número de quartos é pequeno, um quarto adicional tem um efeito negativo sobre log(preço)</a:t>
                </a:r>
              </a:p>
              <a:p>
                <a:pPr algn="just"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𝑄𝑢𝑎𝑟𝑡𝑜𝑠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sz="2400" dirty="0"/>
                  <a:t>= 4,4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Difícil imaginar que começando em 3 quartos e aumentando para 4 quartos o valor esperado de uma casa caia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Somente cerca de 1% da amostra é de casas com 4,4 quartos ou menos (ignorar a porção à esquerda de 4,4)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/>
                  <a:t>Á direita de 4,4 é possível ver que adicionar um quarto tem um efeito crescente sobre a mudança percentual no preço</a:t>
                </a:r>
              </a:p>
              <a:p>
                <a:pPr algn="just"/>
                <a:endParaRPr lang="pt-BR" sz="2000" dirty="0"/>
              </a:p>
              <a:p>
                <a:pPr algn="just"/>
                <a:endParaRPr lang="pt-BR" sz="2000" dirty="0"/>
              </a:p>
              <a:p>
                <a:pPr algn="just"/>
                <a:endParaRPr lang="pt-BR" sz="20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3743F5E-98E2-27F6-9AE8-A9D772B05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35262"/>
                <a:ext cx="8229600" cy="4721698"/>
              </a:xfrm>
              <a:blipFill>
                <a:blip r:embed="rId2"/>
                <a:stretch>
                  <a:fillRect l="-2222" t="-4774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043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57944"/>
          </a:xfrm>
        </p:spPr>
        <p:txBody>
          <a:bodyPr/>
          <a:lstStyle/>
          <a:p>
            <a:pPr algn="just"/>
            <a:r>
              <a:rPr lang="pt-BR" sz="3200" dirty="0">
                <a:solidFill>
                  <a:schemeClr val="accent1">
                    <a:lumMod val="75000"/>
                  </a:schemeClr>
                </a:solidFill>
              </a:rPr>
              <a:t>2. Modelos com termos de interação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74371"/>
                <a:ext cx="8229600" cy="395151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𝑝𝑟𝑒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ç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𝑎𝑟𝑞𝑢𝑎𝑑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𝑞𝑡𝑑𝑜𝑟𝑚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𝑎𝑟𝑞𝑢𝑎𝑑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𝑞𝑡𝑑𝑜𝑟𝑚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𝑏𝑎𝑛h𝑒𝑖𝑟𝑜𝑠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pt-BR" sz="24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tx1"/>
                    </a:solidFill>
                  </a:rPr>
                  <a:t>Efeito parcial de </a:t>
                </a:r>
                <a:r>
                  <a:rPr lang="pt-BR" sz="2400" i="1" dirty="0" err="1">
                    <a:solidFill>
                      <a:schemeClr val="tx1"/>
                    </a:solidFill>
                  </a:rPr>
                  <a:t>qtdorm</a:t>
                </a:r>
                <a:r>
                  <a:rPr lang="pt-BR" sz="2400" dirty="0">
                    <a:solidFill>
                      <a:schemeClr val="tx1"/>
                    </a:solidFill>
                  </a:rPr>
                  <a:t> sobre </a:t>
                </a:r>
                <a:r>
                  <a:rPr lang="pt-BR" sz="2400" i="1" dirty="0">
                    <a:solidFill>
                      <a:schemeClr val="tx1"/>
                    </a:solidFill>
                  </a:rPr>
                  <a:t>preço</a:t>
                </a:r>
                <a:r>
                  <a:rPr lang="pt-BR" sz="2400" dirty="0">
                    <a:solidFill>
                      <a:schemeClr val="tx1"/>
                    </a:solidFill>
                  </a:rPr>
                  <a:t>, mantendo fixas todas as demais variáveis é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𝑝𝑟𝑒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ç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num>
                        <m:den>
                          <m: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𝑞𝑡𝑑𝑜𝑟𝑚</m:t>
                          </m:r>
                        </m:den>
                      </m:f>
                      <m:r>
                        <a:rPr lang="pt-B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𝑎𝑟𝑞𝑢𝑎𝑑</m:t>
                      </m:r>
                    </m:oMath>
                  </m:oMathPara>
                </a14:m>
                <a:endParaRPr lang="pt-BR" sz="2400" b="0" dirty="0">
                  <a:solidFill>
                    <a:schemeClr val="tx1"/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tx1"/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tx1"/>
                    </a:solidFill>
                  </a:rPr>
                  <a:t>&gt;0, um quarto a mais gera um aumento maior no preço dos imóveis maiores, ou seja, existe um efeito de interação entre a área do imóvel e o número de quartos</a:t>
                </a:r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74371"/>
                <a:ext cx="8229600" cy="3951516"/>
              </a:xfrm>
              <a:blipFill>
                <a:blip r:embed="rId2"/>
                <a:stretch>
                  <a:fillRect l="-1852" t="-4784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465292"/>
      </p:ext>
    </p:extLst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Personalizada 5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F68D7B"/>
      </a:accent3>
      <a:accent4>
        <a:srgbClr val="5DCEAF"/>
      </a:accent4>
      <a:accent5>
        <a:srgbClr val="FF8021"/>
      </a:accent5>
      <a:accent6>
        <a:srgbClr val="F14124"/>
      </a:accent6>
      <a:hlink>
        <a:srgbClr val="AC230B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2613</TotalTime>
  <Words>1805</Words>
  <Application>Microsoft Office PowerPoint</Application>
  <PresentationFormat>Apresentação na tela (4:3)</PresentationFormat>
  <Paragraphs>160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Cambria Math</vt:lpstr>
      <vt:lpstr>Noto Sans Symbols</vt:lpstr>
      <vt:lpstr>Times New Roman</vt:lpstr>
      <vt:lpstr>1_Blueprint</vt:lpstr>
      <vt:lpstr>Aula 11 e aula 12</vt:lpstr>
      <vt:lpstr>Lembrando</vt:lpstr>
      <vt:lpstr>Estimação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</vt:lpstr>
      <vt:lpstr>Apresentação do PowerPoint</vt:lpstr>
      <vt:lpstr>Apresentação do PowerPoint</vt:lpstr>
      <vt:lpstr>Apresentação do PowerPoint</vt:lpstr>
      <vt:lpstr>Apresentação do PowerPoint</vt:lpstr>
      <vt:lpstr>Comando reganat do Stata</vt:lpstr>
      <vt:lpstr>Grau de ajuste</vt:lpstr>
      <vt:lpstr>Apresentação do PowerPoint</vt:lpstr>
      <vt:lpstr>Apresentação do PowerPoint</vt:lpstr>
      <vt:lpstr>R^2ajustado: R ̅^2</vt:lpstr>
      <vt:lpstr>Fórmula do R ̅^2 em função do R^2 </vt:lpstr>
      <vt:lpstr>Formas funcionais: mais sobre o uso de logaritmos</vt:lpstr>
      <vt:lpstr>Mudança percentual exata</vt:lpstr>
      <vt:lpstr>Razões para usar o log</vt:lpstr>
      <vt:lpstr>Formas funcionais 1. Modelos com funções quadráticas</vt:lpstr>
      <vt:lpstr>Parábola</vt:lpstr>
      <vt:lpstr>Formato em U</vt:lpstr>
      <vt:lpstr>2. Modelos com termos de interação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RDD</dc:title>
  <dc:creator>Patricia M. Anderson</dc:creator>
  <cp:lastModifiedBy>Fabiana Rocha</cp:lastModifiedBy>
  <cp:revision>115</cp:revision>
  <dcterms:created xsi:type="dcterms:W3CDTF">1999-10-02T17:37:41Z</dcterms:created>
  <dcterms:modified xsi:type="dcterms:W3CDTF">2026-04-19T21:32:30Z</dcterms:modified>
</cp:coreProperties>
</file>