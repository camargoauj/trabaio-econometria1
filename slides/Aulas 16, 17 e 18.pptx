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3"/>
  </p:notesMasterIdLst>
  <p:sldIdLst>
    <p:sldId id="385" r:id="rId2"/>
    <p:sldId id="436" r:id="rId3"/>
    <p:sldId id="437" r:id="rId4"/>
    <p:sldId id="457" r:id="rId5"/>
    <p:sldId id="438" r:id="rId6"/>
    <p:sldId id="439" r:id="rId7"/>
    <p:sldId id="440" r:id="rId8"/>
    <p:sldId id="441" r:id="rId9"/>
    <p:sldId id="442" r:id="rId10"/>
    <p:sldId id="443" r:id="rId11"/>
    <p:sldId id="445" r:id="rId12"/>
    <p:sldId id="446" r:id="rId13"/>
    <p:sldId id="447" r:id="rId14"/>
    <p:sldId id="448" r:id="rId15"/>
    <p:sldId id="449" r:id="rId16"/>
    <p:sldId id="450" r:id="rId17"/>
    <p:sldId id="453" r:id="rId18"/>
    <p:sldId id="454" r:id="rId19"/>
    <p:sldId id="466" r:id="rId20"/>
    <p:sldId id="467" r:id="rId21"/>
    <p:sldId id="455" r:id="rId22"/>
    <p:sldId id="429" r:id="rId23"/>
    <p:sldId id="430" r:id="rId24"/>
    <p:sldId id="431" r:id="rId25"/>
    <p:sldId id="382" r:id="rId26"/>
    <p:sldId id="424" r:id="rId27"/>
    <p:sldId id="423" r:id="rId28"/>
    <p:sldId id="426" r:id="rId29"/>
    <p:sldId id="432" r:id="rId30"/>
    <p:sldId id="433" r:id="rId31"/>
    <p:sldId id="421" r:id="rId32"/>
    <p:sldId id="403" r:id="rId33"/>
    <p:sldId id="404" r:id="rId34"/>
    <p:sldId id="405" r:id="rId35"/>
    <p:sldId id="406" r:id="rId36"/>
    <p:sldId id="407" r:id="rId37"/>
    <p:sldId id="434" r:id="rId38"/>
    <p:sldId id="271" r:id="rId39"/>
    <p:sldId id="458" r:id="rId40"/>
    <p:sldId id="459" r:id="rId41"/>
    <p:sldId id="274" r:id="rId42"/>
    <p:sldId id="276" r:id="rId43"/>
    <p:sldId id="460" r:id="rId44"/>
    <p:sldId id="461" r:id="rId45"/>
    <p:sldId id="280" r:id="rId46"/>
    <p:sldId id="462" r:id="rId47"/>
    <p:sldId id="463" r:id="rId48"/>
    <p:sldId id="435" r:id="rId49"/>
    <p:sldId id="464" r:id="rId50"/>
    <p:sldId id="465" r:id="rId51"/>
    <p:sldId id="468" r:id="rId5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2" roundtripDataSignature="AMtx7mgSOnBTX3+4WX6EN1RkpxStfZzD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A45613-1E7A-4486-B7C7-88FF672ACC49}" v="1" dt="2026-05-19T12:54:45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7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7917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5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E517-D236-4E3E-909C-EAAF4316CC70}" type="datetimeFigureOut">
              <a:rPr lang="pt-BR" smtClean="0"/>
              <a:pPr/>
              <a:t>19/05/2026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3740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8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28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28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3" name="Google Shape;13;p28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28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5" name="Google Shape;15;p28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6" name="Google Shape;16;p28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7" name="Google Shape;17;p28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8" name="Google Shape;18;p28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9" name="Google Shape;19;p28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0" name="Google Shape;20;p28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1" name="Google Shape;21;p28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2" name="Google Shape;22;p28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3" name="Google Shape;23;p28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4" name="Google Shape;24;p28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" name="Google Shape;25;p28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" name="Google Shape;26;p28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" name="Google Shape;27;p28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" name="Google Shape;28;p28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" name="Google Shape;29;p28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" name="Google Shape;30;p28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" name="Google Shape;31;p28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" name="Google Shape;32;p28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3" name="Google Shape;33;p28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" name="Google Shape;34;p28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" name="Google Shape;35;p28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6" name="Google Shape;36;p28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7" name="Google Shape;37;p28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" name="Google Shape;38;p28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" name="Google Shape;39;p28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" name="Google Shape;40;p28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1" name="Google Shape;41;p28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2" name="Google Shape;42;p28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3" name="Google Shape;43;p28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4" name="Google Shape;44;p28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5" name="Google Shape;45;p28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6" name="Google Shape;46;p28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7" name="Google Shape;47;p28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" name="Google Shape;48;p28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9" name="Google Shape;49;p28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0" name="Google Shape;50;p28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1" name="Google Shape;51;p28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2" name="Google Shape;52;p28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3" name="Google Shape;53;p28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4" name="Google Shape;54;p28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5" name="Google Shape;55;p28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6" name="Google Shape;56;p28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7" name="Google Shape;57;p28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8" name="Google Shape;58;p28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9" name="Google Shape;59;p28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0" name="Google Shape;60;p28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1" name="Google Shape;61;p28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2" name="Google Shape;62;p28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3" name="Google Shape;63;p28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4" name="Google Shape;64;p28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cxnSp>
            <p:nvCxnSpPr>
              <p:cNvPr id="65" name="Google Shape;65;p28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6" name="Google Shape;66;p28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28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68;p28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69;p28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0" name="Google Shape;70;p28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1" name="Google Shape;71;p28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28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28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4" name="Google Shape;74;p28"/>
              <p:cNvSpPr/>
              <p:nvPr/>
            </p:nvSpPr>
            <p:spPr>
              <a:xfrm rot="5400000">
                <a:off x="5096" y="3346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6" name="Google Shape;76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2119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520"/>
              <a:buFont typeface="Noto Sans Symbols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90600" y="1752599"/>
            <a:ext cx="7772400" cy="1403555"/>
          </a:xfrm>
        </p:spPr>
        <p:txBody>
          <a:bodyPr>
            <a:normAutofit/>
          </a:bodyPr>
          <a:lstStyle/>
          <a:p>
            <a:r>
              <a:rPr lang="pt-BR" sz="3600" dirty="0">
                <a:solidFill>
                  <a:srgbClr val="FF0000"/>
                </a:solidFill>
              </a:rPr>
              <a:t>Aula 16, 17 e 18</a:t>
            </a:r>
            <a:br>
              <a:rPr lang="pt-BR" sz="3600" dirty="0">
                <a:solidFill>
                  <a:srgbClr val="FF0000"/>
                </a:solidFill>
              </a:rPr>
            </a:br>
            <a:r>
              <a:rPr lang="pt-BR" sz="3600" dirty="0">
                <a:solidFill>
                  <a:srgbClr val="FF0000"/>
                </a:solidFill>
              </a:rPr>
              <a:t>Inferência no modelo de regressão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90600" y="3658982"/>
            <a:ext cx="6400800" cy="140355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326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1A1315-0628-FCE0-AEF7-AF2C85B0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BFB07-86AA-E3A5-8629-A1248CDE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73394"/>
          </a:xfrm>
        </p:spPr>
        <p:txBody>
          <a:bodyPr/>
          <a:lstStyle/>
          <a:p>
            <a:endParaRPr lang="pt-BR" sz="3600" dirty="0">
              <a:solidFill>
                <a:schemeClr val="tx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EE49619-8BC4-0EDC-94C0-EDDDD99D70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6875"/>
                <a:ext cx="8229600" cy="4630084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Objetivo: não é simplesmente obter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, por exemplo, mas também usá-lo para fazer inferência sobre o verdadeiro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Como o objetivo é tanto a estimativa quanto o teste de hipótese, é necessário especificar a distribuição de probabilidade dos erros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Isto porque como vimos, os estimadores de MQO são funções lineares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, que por hipótese, são aleatórios. Assim, as distribuições de probabilidade dos estimadores de MQO dependerão das hipóteses feitas sobre a distribuição de probabilidade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Necessário, então, supor que os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seguem alguma distribuição de probabilidade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6875"/>
                <a:ext cx="8229600" cy="4630084"/>
              </a:xfrm>
              <a:blipFill>
                <a:blip r:embed="rId2"/>
                <a:stretch>
                  <a:fillRect l="-1852" t="-3553" r="-1111" b="-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9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33EC92-4C4C-B463-4B75-0962083C6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0DF0D-D228-56AC-DDF7-E750EF5B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74" y="304800"/>
            <a:ext cx="7841226" cy="796413"/>
          </a:xfrm>
        </p:spPr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5EC52C0-09AF-64EA-C448-6815B4AA0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38866"/>
                <a:ext cx="8229600" cy="4918094"/>
              </a:xfrm>
            </p:spPr>
            <p:txBody>
              <a:bodyPr>
                <a:noAutofit/>
              </a:bodyPr>
              <a:lstStyle/>
              <a:p>
                <a:pPr marL="5081" indent="0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Hipótese RLM.6 (Normalidade)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O erro populacional </a:t>
                </a:r>
                <a:r>
                  <a:rPr lang="pt-BR" sz="2800" i="1" dirty="0">
                    <a:solidFill>
                      <a:schemeClr val="accent5">
                        <a:lumMod val="10000"/>
                      </a:schemeClr>
                    </a:solidFill>
                  </a:rPr>
                  <a:t>u</a:t>
                </a: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é independente da variável explicativa e é normalmente distribuído com média zero e variância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se distribui normalmente com 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Média: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) = 0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Variância: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Estas hipóteses podem ser enunciadas de forma resumida como: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~ N (0,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38866"/>
                <a:ext cx="8229600" cy="4918094"/>
              </a:xfrm>
              <a:blipFill>
                <a:blip r:embed="rId2"/>
                <a:stretch>
                  <a:fillRect l="-2222" t="-1239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975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DA029-E329-238B-2F28-3EC1266B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776748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322FE71-E6EB-0757-A3B4-BC695224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A55CB9-5C96-CE00-6E38-E136357C095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88026"/>
            <a:ext cx="8229600" cy="4868934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600" dirty="0">
                <a:solidFill>
                  <a:schemeClr val="accent5">
                    <a:lumMod val="10000"/>
                  </a:schemeClr>
                </a:solidFill>
              </a:rPr>
              <a:t>Nas aplicações de </a:t>
            </a:r>
            <a:r>
              <a:rPr lang="pt-BR" sz="2600" i="1" dirty="0" err="1">
                <a:solidFill>
                  <a:schemeClr val="accent5">
                    <a:lumMod val="10000"/>
                  </a:schemeClr>
                </a:solidFill>
              </a:rPr>
              <a:t>cross-section</a:t>
            </a:r>
            <a:r>
              <a:rPr lang="pt-BR" sz="2600" dirty="0">
                <a:solidFill>
                  <a:schemeClr val="accent5">
                    <a:lumMod val="10000"/>
                  </a:schemeClr>
                </a:solidFill>
              </a:rPr>
              <a:t> as hipóteses RLM.1 a RLM.6 são chamadas hipóteses do modelo linear clássico ( por isso o modelo de regressão também é chamado modelo de regressão clássico)</a:t>
            </a:r>
          </a:p>
          <a:p>
            <a:pPr algn="just">
              <a:spcBef>
                <a:spcPts val="0"/>
              </a:spcBef>
            </a:pPr>
            <a:r>
              <a:rPr lang="pt-BR" sz="2600" dirty="0">
                <a:solidFill>
                  <a:schemeClr val="accent5">
                    <a:lumMod val="10000"/>
                  </a:schemeClr>
                </a:solidFill>
              </a:rPr>
              <a:t>Hipótese do modelo linear clássico = hipóteses de Gauss-Markov mais a hipóteses de um termo de erro normalmente distribuído</a:t>
            </a:r>
          </a:p>
          <a:p>
            <a:pPr algn="just">
              <a:spcBef>
                <a:spcPts val="0"/>
              </a:spcBef>
            </a:pPr>
            <a:r>
              <a:rPr lang="pt-BR" sz="2600" dirty="0">
                <a:solidFill>
                  <a:schemeClr val="accent5">
                    <a:lumMod val="10000"/>
                  </a:schemeClr>
                </a:solidFill>
              </a:rPr>
              <a:t>Sob as hipóteses do modelo linear clássico é possível mostrar que os estimadores de MQO são os estimadores não viesados de variância mínima, ou seja, eles têm a menor variância entre os estimadores não viesados</a:t>
            </a:r>
          </a:p>
        </p:txBody>
      </p:sp>
    </p:spTree>
    <p:extLst>
      <p:ext uri="{BB962C8B-B14F-4D97-AF65-F5344CB8AC3E}">
        <p14:creationId xmlns:p14="http://schemas.microsoft.com/office/powerpoint/2010/main" val="305007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1B9757-FC57-6459-8F0A-CADF0E70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8D053-25D2-852F-4AD9-7B572877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16634"/>
          </a:xfrm>
        </p:spPr>
        <p:txBody>
          <a:bodyPr>
            <a:normAutofit/>
          </a:bodyPr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Por que a hipótese de normalidade?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ADF5A9-DBF7-1020-63BE-588D724DE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522"/>
            <a:ext cx="8229600" cy="4839437"/>
          </a:xfrm>
        </p:spPr>
        <p:txBody>
          <a:bodyPr>
            <a:noAutofit/>
          </a:bodyPr>
          <a:lstStyle/>
          <a:p>
            <a:pPr marL="5081" indent="0" algn="just">
              <a:buNone/>
            </a:pPr>
            <a:r>
              <a:rPr lang="pt-BR" sz="2000" dirty="0"/>
              <a:t>1</a:t>
            </a: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) </a:t>
            </a:r>
            <a:r>
              <a:rPr lang="pt-BR" sz="2200" dirty="0">
                <a:solidFill>
                  <a:schemeClr val="accent5">
                    <a:lumMod val="10000"/>
                  </a:schemeClr>
                </a:solidFill>
              </a:rPr>
              <a:t>Os erros representam a influência combinada de um grande número de variáveis independentes que não são explicitamente introduzidas  no modelo de regressão. Espera-se que a influência dessas variáveis omitidas seja pequena e aleatória. Usando o teorema central do limite, é possível demonstrar que se houver um grande número de variáveis aleatórias independentes e identicamente distribuídas, então, com poucas exceções, a distribuição de sua soma tenderá para uma distribuição normal à medida que o número dessas variáveis aumentar indefinidamente .</a:t>
            </a:r>
          </a:p>
          <a:p>
            <a:pPr marL="5081" indent="0" algn="just">
              <a:buNone/>
            </a:pPr>
            <a:r>
              <a:rPr lang="pt-BR" sz="2200" dirty="0">
                <a:solidFill>
                  <a:schemeClr val="accent5">
                    <a:lumMod val="10000"/>
                  </a:schemeClr>
                </a:solidFill>
              </a:rPr>
              <a:t>2) Uma variante do teorema central do limite diz que, mesmo que o número de variáveis não seja muito grande ou que essas variáveis não sejam rigorosamente independentes, sua soma pode ainda assim se distribuir normalmente</a:t>
            </a:r>
          </a:p>
        </p:txBody>
      </p:sp>
    </p:spTree>
    <p:extLst>
      <p:ext uri="{BB962C8B-B14F-4D97-AF65-F5344CB8AC3E}">
        <p14:creationId xmlns:p14="http://schemas.microsoft.com/office/powerpoint/2010/main" val="2995366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E7C26A-FD52-3791-ED5B-F0A74203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20BDC-60A4-0651-A0E3-8D5ED96C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Por que a hipótese de normalidade?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A86306-131A-09B3-68B0-69E2693CA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0143"/>
            <a:ext cx="8229600" cy="3805084"/>
          </a:xfrm>
        </p:spPr>
        <p:txBody>
          <a:bodyPr/>
          <a:lstStyle/>
          <a:p>
            <a:pPr marL="5081" indent="0" algn="just">
              <a:buNone/>
            </a:pPr>
            <a:r>
              <a:rPr lang="pt-BR" sz="2400" dirty="0"/>
              <a:t>3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) Com a hipótese da normalidade, as distribuições de probabilidade dos estimadores de MQO podem ser facilmente derivadas. Uma propriedade da distribuição normal é que qualquer função linear de variáveis distribuídas normalmente é ela própria distribuída normalmente.</a:t>
            </a:r>
          </a:p>
          <a:p>
            <a:pPr marL="5081" indent="0" algn="just">
              <a:buNone/>
            </a:pPr>
            <a:endParaRPr lang="pt-BR" sz="2400" dirty="0">
              <a:solidFill>
                <a:schemeClr val="accent5">
                  <a:lumMod val="10000"/>
                </a:schemeClr>
              </a:solidFill>
            </a:endParaRPr>
          </a:p>
          <a:p>
            <a:pPr marL="5081" indent="0" algn="just">
              <a:buNone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4) A distribuição normal é uma distribuição relativamente simples que envolve somente dois parâmetros (média e variância) e é bastante conhecida.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1855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34B7F8-7021-9B3B-8B1D-5D0F299F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EAAEC-2E18-D658-63F2-77142CE9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solidFill>
                  <a:schemeClr val="tx2">
                    <a:lumMod val="50000"/>
                  </a:schemeClr>
                </a:solidFill>
              </a:rPr>
              <a:t>Normalidade de </a:t>
            </a:r>
            <a:r>
              <a:rPr lang="pt-BR" sz="3200" i="1" dirty="0">
                <a:solidFill>
                  <a:schemeClr val="tx2">
                    <a:lumMod val="50000"/>
                  </a:schemeClr>
                </a:solidFill>
              </a:rPr>
              <a:t>u</a:t>
            </a:r>
            <a:r>
              <a:rPr lang="pt-BR" sz="3200" dirty="0">
                <a:solidFill>
                  <a:schemeClr val="tx2">
                    <a:lumMod val="50000"/>
                  </a:schemeClr>
                </a:solidFill>
              </a:rPr>
              <a:t> é uma questão empírica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920808-41D0-7772-9881-ACB53AE6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46787"/>
            <a:ext cx="8229600" cy="3657600"/>
          </a:xfrm>
        </p:spPr>
        <p:txBody>
          <a:bodyPr>
            <a:normAutofit/>
          </a:bodyPr>
          <a:lstStyle/>
          <a:p>
            <a:pPr marL="5081" indent="0">
              <a:buNone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Teste de normalidade de </a:t>
            </a:r>
            <a:r>
              <a:rPr lang="pt-BR" sz="2800" dirty="0" err="1">
                <a:solidFill>
                  <a:schemeClr val="accent5">
                    <a:lumMod val="10000"/>
                  </a:schemeClr>
                </a:solidFill>
              </a:rPr>
              <a:t>Jarque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-Bera (JB)*: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 Teste assintótico, ou seja, para grandes amostras.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Baseado nos resíduos de MQO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800" dirty="0"/>
          </a:p>
          <a:p>
            <a:pPr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accent5">
                  <a:lumMod val="10000"/>
                </a:schemeClr>
              </a:solidFill>
            </a:endParaRPr>
          </a:p>
          <a:p>
            <a:pPr marL="0" indent="0" algn="just">
              <a:buNone/>
            </a:pP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* C.M. </a:t>
            </a:r>
            <a:r>
              <a:rPr lang="pt-BR" sz="1600" dirty="0" err="1">
                <a:solidFill>
                  <a:schemeClr val="accent5">
                    <a:lumMod val="10000"/>
                  </a:schemeClr>
                </a:solidFill>
              </a:rPr>
              <a:t>Jarque</a:t>
            </a: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 e A.K. </a:t>
            </a:r>
            <a:r>
              <a:rPr lang="pt-BR" sz="1600" dirty="0" err="1">
                <a:solidFill>
                  <a:schemeClr val="accent5">
                    <a:lumMod val="10000"/>
                  </a:schemeClr>
                </a:solidFill>
              </a:rPr>
              <a:t>Bera</a:t>
            </a: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 (1987) A </a:t>
            </a:r>
            <a:r>
              <a:rPr lang="pt-BR" sz="1600" dirty="0" err="1">
                <a:solidFill>
                  <a:schemeClr val="accent5">
                    <a:lumMod val="10000"/>
                  </a:schemeClr>
                </a:solidFill>
              </a:rPr>
              <a:t>test</a:t>
            </a: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 for </a:t>
            </a:r>
            <a:r>
              <a:rPr lang="pt-BR" sz="1600" dirty="0" err="1">
                <a:solidFill>
                  <a:schemeClr val="accent5">
                    <a:lumMod val="10000"/>
                  </a:schemeClr>
                </a:solidFill>
              </a:rPr>
              <a:t>normality</a:t>
            </a: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pt-BR" sz="1600" dirty="0" err="1">
                <a:solidFill>
                  <a:schemeClr val="accent5">
                    <a:lumMod val="10000"/>
                  </a:schemeClr>
                </a:solidFill>
              </a:rPr>
              <a:t>of</a:t>
            </a: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pt-BR" sz="1600" dirty="0" err="1">
                <a:solidFill>
                  <a:schemeClr val="accent5">
                    <a:lumMod val="10000"/>
                  </a:schemeClr>
                </a:solidFill>
              </a:rPr>
              <a:t>observations</a:t>
            </a: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pt-BR" sz="1600" dirty="0" err="1">
                <a:solidFill>
                  <a:schemeClr val="accent5">
                    <a:lumMod val="10000"/>
                  </a:schemeClr>
                </a:solidFill>
              </a:rPr>
              <a:t>and</a:t>
            </a: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pt-BR" sz="1600" dirty="0" err="1">
                <a:solidFill>
                  <a:schemeClr val="accent5">
                    <a:lumMod val="10000"/>
                  </a:schemeClr>
                </a:solidFill>
              </a:rPr>
              <a:t>regression</a:t>
            </a: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pt-BR" sz="1600" dirty="0" err="1">
                <a:solidFill>
                  <a:schemeClr val="accent5">
                    <a:lumMod val="10000"/>
                  </a:schemeClr>
                </a:solidFill>
              </a:rPr>
              <a:t>residuals</a:t>
            </a: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, </a:t>
            </a:r>
            <a:r>
              <a:rPr lang="pt-BR" sz="1600" i="1" dirty="0" err="1">
                <a:solidFill>
                  <a:schemeClr val="accent5">
                    <a:lumMod val="10000"/>
                  </a:schemeClr>
                </a:solidFill>
              </a:rPr>
              <a:t>International</a:t>
            </a:r>
            <a:r>
              <a:rPr lang="pt-BR" sz="1600" i="1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pt-BR" sz="1600" i="1" dirty="0" err="1">
                <a:solidFill>
                  <a:schemeClr val="accent5">
                    <a:lumMod val="10000"/>
                  </a:schemeClr>
                </a:solidFill>
              </a:rPr>
              <a:t>Statistical</a:t>
            </a:r>
            <a:r>
              <a:rPr lang="pt-BR" sz="1600" i="1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pt-BR" sz="1600" i="1" dirty="0" err="1">
                <a:solidFill>
                  <a:schemeClr val="accent5">
                    <a:lumMod val="10000"/>
                  </a:schemeClr>
                </a:solidFill>
              </a:rPr>
              <a:t>Review</a:t>
            </a: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, vol. 55, pp. 163-172.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265171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DF362C-EA21-902F-0099-EBC2ABA6D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076BF-0F95-EB1B-2FE5-BDDB9843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</a:schemeClr>
                </a:solidFill>
              </a:rPr>
              <a:t>JB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569A55C-BBD3-F1AD-64B3-4D24EF6428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48465"/>
                <a:ext cx="8229600" cy="3873909"/>
              </a:xfrm>
            </p:spPr>
            <p:txBody>
              <a:bodyPr/>
              <a:lstStyle/>
              <a:p>
                <a:pPr marL="5081" indent="0"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Primeiro calcular a assimetria e a curtose dos resíduos de MQO  e então utilizar a seguinte estatística:</a:t>
                </a:r>
              </a:p>
              <a:p>
                <a:pPr marL="5081" indent="0"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JB = n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sz="24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−3)</m:t>
                                </m:r>
                              </m:e>
                              <m:sup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Em que A representa a assimetria e C representa a curtose</a:t>
                </a:r>
              </a:p>
              <a:p>
                <a:pPr marL="5081" indent="0" algn="just"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Sob a hipótese nula de que os resíduos se distribuem normalmente, </a:t>
                </a:r>
                <a:r>
                  <a:rPr lang="pt-BR" sz="2400" dirty="0" err="1">
                    <a:solidFill>
                      <a:schemeClr val="accent5">
                        <a:lumMod val="10000"/>
                      </a:schemeClr>
                    </a:solidFill>
                  </a:rPr>
                  <a:t>Jarque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e Bera mostraram que assintoticamente a estatística JB segue a distribuição </a:t>
                </a:r>
                <a:r>
                  <a:rPr lang="pt-BR" sz="2400" dirty="0" err="1">
                    <a:solidFill>
                      <a:schemeClr val="accent5">
                        <a:lumMod val="10000"/>
                      </a:schemeClr>
                    </a:solidFill>
                  </a:rPr>
                  <a:t>qui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-quadrado com 2 graus de liberdade</a:t>
                </a: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48465"/>
                <a:ext cx="8229600" cy="3873909"/>
              </a:xfrm>
              <a:blipFill>
                <a:blip r:embed="rId2"/>
                <a:stretch>
                  <a:fillRect l="-1111" r="-19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533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2679A2-CC24-AAD1-6CB5-4CBDE11ED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31F39-3370-3FEB-CAC2-2D6E25138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27C8209-A641-5C20-455E-C8B21F385D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61652"/>
                <a:ext cx="8229600" cy="4495307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Teorema 1: Sob as hipóteses do modelo linear clássico, RLM.1 a RLM.6, condicional aos valores amostrais das variáveis independentes</a:t>
                </a:r>
              </a:p>
              <a:p>
                <a:pPr>
                  <a:spcBef>
                    <a:spcPts val="0"/>
                  </a:spcBef>
                </a:pPr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~ N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, var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)]</a:t>
                </a:r>
              </a:p>
              <a:p>
                <a:pPr>
                  <a:spcBef>
                    <a:spcPts val="0"/>
                  </a:spcBef>
                </a:pPr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pt-BR" sz="2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) / </a:t>
                </a:r>
                <a:r>
                  <a:rPr lang="pt-BR" sz="2800" dirty="0" err="1">
                    <a:solidFill>
                      <a:schemeClr val="accent5">
                        <a:lumMod val="10000"/>
                      </a:schemeClr>
                    </a:solidFill>
                  </a:rPr>
                  <a:t>dp</a:t>
                </a: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) ~ N (0,1)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61652"/>
                <a:ext cx="8229600" cy="4495307"/>
              </a:xfrm>
              <a:blipFill>
                <a:blip r:embed="rId2"/>
                <a:stretch>
                  <a:fillRect l="-1481" t="-1493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424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194CA9-81B4-AA94-0C41-73CC5215F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F0ED65-A297-7E6E-05D7-089661137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066800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solidFill>
                  <a:schemeClr val="tx2">
                    <a:lumMod val="50000"/>
                  </a:schemeClr>
                </a:solidFill>
              </a:rPr>
              <a:t>Teste de hipóteses sobre um único parâmetro populacional: teste 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44E9B7B-580F-4C0A-AC3F-54E34A8A66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89471"/>
                <a:ext cx="8229600" cy="4367488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Lembrar: 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são características desconhecidas da população e nunca serão conhecidos com certeza. É possível, no entanto, fazer hipóteses sobre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e então utilizar inferência estatística para testa esta hipótese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Para construir os testes de hipótese é preciso o seguinte resultado: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Teorema 2: Sob as hipóteses do modelo linear clássico RLM.1 a RLM.6: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) /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𝑑𝑝</m:t>
                        </m:r>
                      </m:e>
                    </m:acc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~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, onde k é o número de coeficientes de inclinação estimados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44E9B7B-580F-4C0A-AC3F-54E34A8A66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89471"/>
                <a:ext cx="8229600" cy="4367488"/>
              </a:xfrm>
              <a:blipFill>
                <a:blip r:embed="rId2"/>
                <a:stretch>
                  <a:fillRect l="-1926" t="-4469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9441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AAD16F-E054-4163-CA3F-E9323408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8F2D0-7C87-672D-A148-8A4C03B39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6DD2D39-3982-E1E9-B6B2-9F9203BDB9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00981"/>
                <a:ext cx="8229600" cy="3598606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Teorema 2 permite testar hipóteses que envolvem 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Principal interesse, na maioria das aplicações, é testar a hipótese nula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= 0 (1)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Em que </a:t>
                </a:r>
                <a:r>
                  <a:rPr lang="pt-BR" sz="2400" i="1" dirty="0">
                    <a:solidFill>
                      <a:schemeClr val="accent5">
                        <a:lumMod val="10000"/>
                      </a:schemeClr>
                    </a:solidFill>
                  </a:rPr>
                  <a:t>j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corresponde a qualquer uma das k variáveis explicativas e j= 0 corresponde ao intercepto </a:t>
                </a:r>
              </a:p>
              <a:p>
                <a:pPr indent="-4572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 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mede o efeito parcial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sobre (o valor esperado)  </a:t>
                </a:r>
                <a:r>
                  <a:rPr lang="pt-BR" sz="2400" i="1" dirty="0">
                    <a:solidFill>
                      <a:schemeClr val="accent5">
                        <a:lumMod val="10000"/>
                      </a:schemeClr>
                    </a:solidFill>
                  </a:rPr>
                  <a:t>y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após controlar por todas as variáveis independentes,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não tem nenhum efeito sobre o valor esperado de </a:t>
                </a:r>
                <a:r>
                  <a:rPr lang="pt-BR" sz="2400" i="1" dirty="0">
                    <a:solidFill>
                      <a:schemeClr val="accent5">
                        <a:lumMod val="10000"/>
                      </a:schemeClr>
                    </a:solidFill>
                  </a:rPr>
                  <a:t>y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6DD2D39-3982-E1E9-B6B2-9F9203BDB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00981"/>
                <a:ext cx="8229600" cy="3598606"/>
              </a:xfrm>
              <a:blipFill>
                <a:blip r:embed="rId2"/>
                <a:stretch>
                  <a:fillRect l="-1926" t="-5254" r="-1111" b="-13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700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60CEF3-A1D0-F50A-DEFA-669FD1AD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7A5A4-F194-8EA5-353C-6F08E6ECB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46382B9-A323-763E-46CB-BFCECC879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D3F3EA0D-5026-6EBF-39E7-07C971FBA5C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40310"/>
                <a:ext cx="8229600" cy="4326193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Estatística que é usada para testar (1) contra qualquer alternativa é chamada estatística t e é definida como visto anteriormente como: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pt-BR" sz="26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6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6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6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pt-BR" sz="2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) /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6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𝑑𝑝</m:t>
                        </m:r>
                      </m:e>
                    </m:acc>
                    <m:r>
                      <a:rPr lang="pt-BR" sz="2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6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Lembrar que está se testando hipóteses sobre parâmetros populacionais e não hipóteses sobre estimativas de uma amostra particular. Assim, não faz sentido formular a hipótese nula como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ou, ainda pior,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6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0,237</m:t>
                    </m:r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quando a estimativa do parâmetro for 0,237 na amostra</a:t>
                </a:r>
              </a:p>
              <a:p>
                <a:pPr marL="5081" indent="0" algn="just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D3F3EA0D-5026-6EBF-39E7-07C971FBA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40310"/>
                <a:ext cx="8229600" cy="4326193"/>
              </a:xfrm>
              <a:blipFill>
                <a:blip r:embed="rId2"/>
                <a:stretch>
                  <a:fillRect l="-1852" t="-3803" r="-1333" b="-11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189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62EA13-A0AB-357E-8A42-F0D575690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BB0BB-DF4E-F114-EDC2-66AD365C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Teste de hipóteses alternativas unilaterais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29447C6-7958-6520-CBE4-12D3DB02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D1CD2197-AF3E-58A3-7F8A-58ABDA1B944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447800"/>
                <a:ext cx="8382000" cy="4455979"/>
              </a:xfrm>
            </p:spPr>
            <p:txBody>
              <a:bodyPr/>
              <a:lstStyle/>
              <a:p>
                <a:pPr marL="5081" indent="0" algn="just">
                  <a:buNone/>
                </a:pPr>
                <a:endParaRPr lang="pt-BR" i="1" dirty="0">
                  <a:solidFill>
                    <a:schemeClr val="accent5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508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pt-BR" dirty="0"/>
              </a:p>
              <a:p>
                <a:pPr marL="5081" indent="0" algn="just">
                  <a:buNone/>
                </a:pPr>
                <a:endParaRPr lang="pt-BR" dirty="0"/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Primeiro decidir sobre um nível de significância ou uma probabilidade de rejeitar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quando ela é, de fato, verdadeira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Se o nível de significância é de 5% estamos dispostos a rejeitar erroneamente a hipótese nula quando ela é  verdadeira somente 5% das vezes</a:t>
                </a:r>
              </a:p>
              <a:p>
                <a:pPr marL="5081" indent="0">
                  <a:spcBef>
                    <a:spcPts val="0"/>
                  </a:spcBef>
                  <a:buNone/>
                </a:pPr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D1CD2197-AF3E-58A3-7F8A-58ABDA1B94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447800"/>
                <a:ext cx="8382000" cy="4455979"/>
              </a:xfrm>
              <a:blipFill>
                <a:blip r:embed="rId2"/>
                <a:stretch>
                  <a:fillRect l="-1455" r="-1455" b="-5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423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D03FD7-1C2A-A8B3-351E-ECB3BBC9A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B0E2A-FBBD-D918-0132-5D4AC31B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5742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0B61CE8-8F39-4D33-56CC-58A8EAED5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0DA26C7D-2624-C16E-CBF6-2F836BA1708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445342"/>
                <a:ext cx="8229600" cy="4711618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Procuramos um valor positivo “suficientemente grande” de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pt-BR" sz="24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40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40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a fim de rejeitar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24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em</m:t>
                    </m:r>
                    <m:r>
                      <a:rPr lang="pt-BR" sz="24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24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favor</m:t>
                    </m:r>
                    <m:r>
                      <a:rPr lang="pt-BR" sz="24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24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de</m:t>
                    </m:r>
                    <m:r>
                      <a:rPr lang="pt-BR" sz="24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4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pt-BR" sz="2400" dirty="0"/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A definição de “suficientemente grande” com nível de significância de 5% é o percentil 95</a:t>
                </a:r>
                <a14:m>
                  <m:oMath xmlns:m="http://schemas.openxmlformats.org/officeDocument/2006/math">
                    <m:r>
                      <a:rPr lang="pt-BR" sz="240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de uma distribuição t com n-k-1 graus de liberdade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Este ponto será determinado c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Tabelas t e outras dão para alguns graus de liberdade e alguns </a:t>
                </a:r>
                <a14:m>
                  <m:oMath xmlns:m="http://schemas.openxmlformats.org/officeDocument/2006/math">
                    <m:r>
                      <a:rPr lang="pt-BR" sz="240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os valores críticos (os valores que separam a região de aceitação e de rejeição da hipótese nula)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Regra de rejeição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será rejeitada em favor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ao nível de significância de 5%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pt-BR" sz="24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4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4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4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/>
                <a:endParaRPr lang="pt-BR" sz="2400" dirty="0"/>
              </a:p>
              <a:p>
                <a:pPr algn="just"/>
                <a:endParaRPr lang="pt-BR" sz="240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0DA26C7D-2624-C16E-CBF6-2F836BA170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445342"/>
                <a:ext cx="8229600" cy="4711618"/>
              </a:xfrm>
              <a:blipFill>
                <a:blip r:embed="rId2"/>
                <a:stretch>
                  <a:fillRect l="-2222" t="-4787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601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87F351-758F-843B-562A-BD487EDF0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BD1DC-2301-9037-9FFC-097FE6B3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B087DE4-FED7-A870-3868-F22E25C6E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99302"/>
                <a:ext cx="8229600" cy="3716595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Hipótese alternativa unilateral cujo parâmetro é menor do que zero: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 &lt; 0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Regra de rejeição : valor crítico vem da cauda esquerda da distribuição t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pt-BR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pt-BR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sub>
                    </m:sSub>
                  </m:oMath>
                </a14:m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 &lt; - c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99302"/>
                <a:ext cx="8229600" cy="3716595"/>
              </a:xfrm>
              <a:blipFill>
                <a:blip r:embed="rId2"/>
                <a:stretch>
                  <a:fillRect l="-1852" t="-2459" r="-1852" b="-4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348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205960-C5E0-8A7E-8155-662C8001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EB230-8F5C-A4F7-FB5B-0D0592862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7924800" cy="1143000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Teste de hipóteses alternativas bilaterais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35C8FC2-5A27-2874-DB20-44A14C70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9D0456A1-CA00-805F-2F30-F5B0D265BE2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10812"/>
                <a:ext cx="8229600" cy="3972233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pt-BR" sz="2400" b="0" i="1" dirty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0</a:t>
                </a:r>
              </a:p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Regra de rejeição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pt-BR" sz="24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pt-BR" sz="24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&gt; c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Se o nível de significância é de 5% c é escolhido de tal forma a fazer com que a área em cada cauda da distribuição t seja igual a 2,5%. Em outras palavras, c é o percentil 97,5</a:t>
                </a:r>
                <a14:m>
                  <m:oMath xmlns:m="http://schemas.openxmlformats.org/officeDocument/2006/math">
                    <m:r>
                      <a:rPr lang="pt-BR" sz="24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de uma distribuição t com n-k-1 graus de liberdade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Quando uma hipótese alternativa não é especificada considera-se que ela é bilateral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66659DF2-EB6D-A58F-554C-304ED5594D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10812"/>
                <a:ext cx="8229600" cy="3972233"/>
              </a:xfrm>
              <a:blipFill>
                <a:blip r:embed="rId2"/>
                <a:stretch>
                  <a:fillRect l="-1852" t="-4916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8608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C554A-26C1-114D-C111-B8992D19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7924800" cy="822960"/>
          </a:xfrm>
        </p:spPr>
        <p:txBody>
          <a:bodyPr/>
          <a:lstStyle/>
          <a:p>
            <a:endParaRPr lang="pt-BR" sz="3600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76F5629-53C9-A509-6416-82365412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17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873AFB7-CFC5-FE95-E289-5895FDB5CC6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474839"/>
                <a:ext cx="8229600" cy="3637936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Ao conduzir uma análise econométrica explicitar o nível de significância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é rejeitada em favor da alternativa ao nível de significância de 5% dizemos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é estatisticamente significativa ou estatisticamente diferente de zero ao nível de 5%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não é rejeitada dizemos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é estatisticamente não significativa ao nível de 5%</a:t>
                </a:r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873AFB7-CFC5-FE95-E289-5895FDB5C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474839"/>
                <a:ext cx="8229600" cy="3637936"/>
              </a:xfrm>
              <a:blipFill>
                <a:blip r:embed="rId2"/>
                <a:stretch>
                  <a:fillRect l="-2222" t="-5025" r="-1481" b="-30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971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C786FFC4-C6C7-91AD-C3CF-0C26F569ED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304800"/>
                <a:ext cx="7924800" cy="1143000"/>
              </a:xfrm>
            </p:spPr>
            <p:txBody>
              <a:bodyPr/>
              <a:lstStyle/>
              <a:p>
                <a:r>
                  <a:rPr lang="pt-BR" sz="3600" dirty="0">
                    <a:solidFill>
                      <a:schemeClr val="tx2">
                        <a:lumMod val="50000"/>
                      </a:schemeClr>
                    </a:solidFill>
                  </a:rPr>
                  <a:t>Teste de outras hipóteses sobre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6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pt-BR" sz="36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C786FFC4-C6C7-91AD-C3CF-0C26F569ED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304800"/>
                <a:ext cx="7924800" cy="1143000"/>
              </a:xfrm>
              <a:blipFill>
                <a:blip r:embed="rId2"/>
                <a:stretch>
                  <a:fillRect l="-2385" b="-15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46BAF2B-80E3-1099-90AB-BC445E36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141096F-D7F8-1097-5F2B-CE9C1818D32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818968"/>
                <a:ext cx="8229600" cy="3716593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Embora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seja a hipótese mais comum, algumas vezes queremos testar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é igual a uma constante dada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é o valor hipotético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A estatística t apropriada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8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) /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𝑑𝑝</m:t>
                        </m:r>
                      </m:e>
                    </m:acc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Podemos usar a estatística t para fazer o teste contra hipóteses alternativas unilaterais ou bilaterais</a:t>
                </a:r>
              </a:p>
              <a:p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141096F-D7F8-1097-5F2B-CE9C1818D3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818968"/>
                <a:ext cx="8229600" cy="3716593"/>
              </a:xfrm>
              <a:blipFill>
                <a:blip r:embed="rId3"/>
                <a:stretch>
                  <a:fillRect l="-2222" t="-4754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396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64D3F09-C659-5322-A427-1CC2C6E0C4C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304800"/>
                <a:ext cx="8229600" cy="924232"/>
              </a:xfrm>
            </p:spPr>
            <p:txBody>
              <a:bodyPr/>
              <a:lstStyle/>
              <a:p>
                <a:r>
                  <a:rPr lang="pt-BR" sz="3200" dirty="0">
                    <a:solidFill>
                      <a:schemeClr val="tx2">
                        <a:lumMod val="50000"/>
                      </a:schemeClr>
                    </a:solidFill>
                  </a:rPr>
                  <a:t>Teste de uma única hipótese envolvendo mais de um 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2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2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pt-BR" sz="32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64D3F09-C659-5322-A427-1CC2C6E0C4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304800"/>
                <a:ext cx="8229600" cy="924232"/>
              </a:xfrm>
              <a:blipFill>
                <a:blip r:embed="rId2"/>
                <a:stretch>
                  <a:fillRect l="-1926" t="-28947" r="-2074" b="-164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C4DF59A-7EF3-A6AB-F03D-41AB93CC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097B5637-A0D3-D521-D4E5-4D1B8E875FA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20645"/>
                <a:ext cx="8229600" cy="4336026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3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pt-BR" sz="3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3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3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3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30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r>
                  <a:rPr lang="pt-BR" sz="3000" dirty="0">
                    <a:solidFill>
                      <a:schemeClr val="accent5">
                        <a:lumMod val="10000"/>
                      </a:schemeClr>
                    </a:solidFill>
                  </a:rPr>
                  <a:t>A hipótese diz respeito a dois parâmetros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3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30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3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3000" dirty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3000" dirty="0">
                    <a:solidFill>
                      <a:schemeClr val="accent5">
                        <a:lumMod val="10000"/>
                      </a:schemeClr>
                    </a:solidFill>
                  </a:rPr>
                  <a:t>Não é difícil construir uma estatística t para testar esta hipótese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3000" dirty="0">
                    <a:solidFill>
                      <a:schemeClr val="accent5">
                        <a:lumMod val="10000"/>
                      </a:schemeClr>
                    </a:solidFill>
                  </a:rPr>
                  <a:t>Supor que a hipótese alternativa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3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30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300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pt-BR" sz="3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3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𝑜𝑢</m:t>
                    </m:r>
                    <m:r>
                      <a:rPr lang="pt-BR" sz="3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&lt;)</m:t>
                    </m:r>
                    <m:sSub>
                      <m:sSubPr>
                        <m:ctrlP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30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r>
                  <a:rPr lang="pt-BR" sz="3000" dirty="0">
                    <a:solidFill>
                      <a:schemeClr val="accent5">
                        <a:lumMod val="10000"/>
                      </a:schemeClr>
                    </a:solidFill>
                  </a:rPr>
                  <a:t>Basta reescrever a hipótese nula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pt-BR" sz="30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3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3000" i="1" dirty="0">
                    <a:solidFill>
                      <a:schemeClr val="accent5">
                        <a:lumMod val="10000"/>
                      </a:schemeClr>
                    </a:solidFill>
                  </a:rPr>
                  <a:t>=0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097B5637-A0D3-D521-D4E5-4D1B8E875F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20645"/>
                <a:ext cx="8229600" cy="4336026"/>
              </a:xfrm>
              <a:blipFill>
                <a:blip r:embed="rId3"/>
                <a:stretch>
                  <a:fillRect l="-2222" r="-1704" b="-12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169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3EDE9-42EB-B70A-1F89-7B043D7F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146026" cy="11430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BABB464-2260-49CC-2098-252362F1B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99B9258-A53A-85DE-76C7-4D8D8528BDE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79638"/>
                <a:ext cx="8229600" cy="4377321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Estatística t</a:t>
                </a:r>
              </a:p>
              <a:p>
                <a:pPr marL="5081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) /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𝑑𝑝</m:t>
                        </m:r>
                      </m:e>
                    </m:acc>
                    <m:r>
                      <a:rPr lang="pt-BR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pt-BR" dirty="0">
                        <a:solidFill>
                          <a:schemeClr val="accent5">
                            <a:lumMod val="10000"/>
                          </a:schemeClr>
                        </a:solidFill>
                      </a:rPr>
                      <m:t>− </m:t>
                    </m:r>
                    <m:sSub>
                      <m:sSub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spcBef>
                    <a:spcPts val="0"/>
                  </a:spcBef>
                  <a:buNone/>
                </a:pP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O denominador é a raiz quadrada da variância dada por:</a:t>
                </a:r>
              </a:p>
              <a:p>
                <a:pPr marL="5081" indent="0">
                  <a:spcBef>
                    <a:spcPts val="0"/>
                  </a:spcBef>
                  <a:buNone/>
                </a:pP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  <a:r>
                  <a:rPr lang="pt-BR" i="1" dirty="0">
                    <a:solidFill>
                      <a:schemeClr val="accent5">
                        <a:lumMod val="10000"/>
                      </a:schemeClr>
                    </a:solidFill>
                  </a:rPr>
                  <a:t>var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pt-BR" dirty="0">
                        <a:solidFill>
                          <a:schemeClr val="accent5">
                            <a:lumMod val="10000"/>
                          </a:schemeClr>
                        </a:solidFill>
                      </a:rPr>
                      <m:t>− </m:t>
                    </m:r>
                    <m:sSub>
                      <m:sSub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 = </a:t>
                </a:r>
                <a:r>
                  <a:rPr lang="pt-BR" i="1" dirty="0">
                    <a:solidFill>
                      <a:schemeClr val="accent5">
                        <a:lumMod val="10000"/>
                      </a:schemeClr>
                    </a:solidFill>
                  </a:rPr>
                  <a:t>var</a:t>
                </a: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</m:oMath>
                </a14:m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  <a:r>
                  <a:rPr lang="pt-BR" i="1" dirty="0">
                    <a:solidFill>
                      <a:schemeClr val="accent5">
                        <a:lumMod val="10000"/>
                      </a:schemeClr>
                    </a:solidFill>
                  </a:rPr>
                  <a:t>var</a:t>
                </a: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pt-BR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pt-BR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𝑐𝑜𝑣</m:t>
                    </m:r>
                    <m:r>
                      <a:rPr lang="pt-BR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pt-BR" dirty="0">
                        <a:solidFill>
                          <a:schemeClr val="accent5">
                            <a:lumMod val="10000"/>
                          </a:schemeClr>
                        </a:solidFill>
                      </a:rPr>
                      <m:t>− </m:t>
                    </m:r>
                    <m:sSub>
                      <m:sSub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Uma vez obtida a estatística do teste </a:t>
                </a:r>
                <a:r>
                  <a:rPr lang="pt-BR" i="1" dirty="0">
                    <a:solidFill>
                      <a:schemeClr val="accent5">
                        <a:lumMod val="10000"/>
                      </a:schemeClr>
                    </a:solidFill>
                  </a:rPr>
                  <a:t>t</a:t>
                </a: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 devemos seguir o procedimento usual</a:t>
                </a:r>
              </a:p>
              <a:p>
                <a:pPr marL="5081" indent="0">
                  <a:buNone/>
                </a:pPr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buNone/>
                </a:pPr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buNone/>
                </a:pPr>
                <a:endParaRPr lang="pt-BR" dirty="0"/>
              </a:p>
              <a:p>
                <a:pPr marL="5081" indent="0">
                  <a:buNone/>
                </a:pPr>
                <a:endParaRPr lang="pt-BR" dirty="0"/>
              </a:p>
              <a:p>
                <a:pPr marL="5081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99B9258-A53A-85DE-76C7-4D8D8528BD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79638"/>
                <a:ext cx="8229600" cy="4377321"/>
              </a:xfrm>
              <a:blipFill>
                <a:blip r:embed="rId2"/>
                <a:stretch>
                  <a:fillRect l="-2222" t="-3064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301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A367-A67A-9DE1-6475-65329BFD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04800"/>
            <a:ext cx="8229599" cy="983226"/>
          </a:xfrm>
        </p:spPr>
        <p:txBody>
          <a:bodyPr/>
          <a:lstStyle/>
          <a:p>
            <a:pPr algn="just"/>
            <a:r>
              <a:rPr lang="pt-BR" altLang="pt-BR" sz="3200" dirty="0">
                <a:solidFill>
                  <a:schemeClr val="tx2">
                    <a:lumMod val="50000"/>
                  </a:schemeClr>
                </a:solidFill>
              </a:rPr>
              <a:t>Significância econômica ou prática versus significância estatística</a:t>
            </a:r>
            <a:endParaRPr lang="pt-BR" sz="3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8C707E3-0D5E-015C-C022-B9A6F486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0A1C5C02-4E1F-852D-64F1-333C2937768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543665"/>
                <a:ext cx="8229600" cy="4168878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A significância econômica de uma variável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é determinada completamente pelo tamanho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pt-BR" sz="22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2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2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2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, enquanto a significância econômica da variável está relacionada ao tamanho (e sinal)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Lembrar que a estatística t para testar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2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2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 é definida dividindo-se a estimativa por seu desvio-padrão. Assim, é possível encontrar significância estatística porque o numerador (coeficiente estimado) é “grande” ou porque o desvio-padrão é “pequeno”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É importante, na prática, distinguir entre essas duas razões. Colocar muita ênfase na significância estatística pode levar à conclusão de que uma variável é “importante” para explicar y embora o seu efeito estimado seja apenas moderado</a:t>
                </a:r>
              </a:p>
              <a:p>
                <a:pPr algn="just">
                  <a:spcBef>
                    <a:spcPts val="0"/>
                  </a:spcBef>
                </a:pPr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0A1C5C02-4E1F-852D-64F1-333C293776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543665"/>
                <a:ext cx="8229600" cy="4168878"/>
              </a:xfrm>
              <a:blipFill>
                <a:blip r:embed="rId2"/>
                <a:stretch>
                  <a:fillRect l="-2222" t="-5994" r="-9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534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687238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chemeClr val="tx2">
                    <a:lumMod val="50000"/>
                  </a:schemeClr>
                </a:solidFill>
              </a:rPr>
              <a:t>Abordagem tradicional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14168"/>
            <a:ext cx="8229600" cy="3982064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Envolve escolher um nível de significância a priori. No entanto, tal procedimento significa que pesquisadores diferentes, usando os mesmos dados e o mesmo procedimento para testar a mesma hipótese, podem acabar com conclusões diferentes.</a:t>
            </a:r>
          </a:p>
          <a:p>
            <a:pPr algn="just">
              <a:spcBef>
                <a:spcPts val="0"/>
              </a:spcBef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Por exemplo, supor que o objetivo é testar a hipótese nula de que um parâmetro é igual a zero contra uma alternativa bilateral. A estatística t calculada é igual a 1,85. Com 40 graus de liberdade e nível de significância de 5%, c = 2,021. Um pesquisador cuja agenda é não rejeitar a hipótese nula poderia simplesmente reportar este resultado e concluir que a hipótese nula não é rejeitada. Por outro lado, se o nível de significância é 10%, c = 1,684, um pesquisador cuja agenda é rejeitar a hipótese nula poderia confirmar a sua agenda.</a:t>
            </a:r>
          </a:p>
        </p:txBody>
      </p:sp>
    </p:spTree>
    <p:extLst>
      <p:ext uri="{BB962C8B-B14F-4D97-AF65-F5344CB8AC3E}">
        <p14:creationId xmlns:p14="http://schemas.microsoft.com/office/powerpoint/2010/main" val="3662299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43897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45720"/>
            <a:ext cx="8229600" cy="4811239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Mesmo depois de decidir sobre a alternativa apropriada, há um componente de arbitrariedade na abordagem clássica, que resulta da escolha a priori de um nível de significância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Não há nível de significância “correto”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Ao invés de testar para diferentes níveis de significância é mais informativo responder à seguinte questão: Dado o valor observado da estatística t, qual é o menor nível de significância ao qual a hipótese nula pode ser rejeitada?</a:t>
            </a:r>
          </a:p>
        </p:txBody>
      </p:sp>
    </p:spTree>
    <p:extLst>
      <p:ext uri="{BB962C8B-B14F-4D97-AF65-F5344CB8AC3E}">
        <p14:creationId xmlns:p14="http://schemas.microsoft.com/office/powerpoint/2010/main" val="3848371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756249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</a:schemeClr>
                </a:solidFill>
              </a:rPr>
              <a:t>p-valor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81" indent="0" algn="just">
              <a:spcBef>
                <a:spcPts val="0"/>
              </a:spcBef>
              <a:buNone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De outra forma, depois de obter, em um dado exemplo, uma estatística de teste (no nosso caso, a estatística t) porque não pegar a tabela da estatística t e descobrir a probabilidade efetiva de se obter um valor da estatística de teste similar ou maior que a obtida no exemplo em questão?</a:t>
            </a:r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Esta probabilidade é chamada p-valor, nível de significância exato ou probabilidade exata de cometer um erro Tipo I</a:t>
            </a:r>
          </a:p>
        </p:txBody>
      </p:sp>
    </p:spTree>
    <p:extLst>
      <p:ext uri="{BB962C8B-B14F-4D97-AF65-F5344CB8AC3E}">
        <p14:creationId xmlns:p14="http://schemas.microsoft.com/office/powerpoint/2010/main" val="4139284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tx2">
                    <a:lumMod val="50000"/>
                  </a:schemeClr>
                </a:solidFill>
              </a:rPr>
              <a:t>p-valor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69806"/>
                <a:ext cx="8229600" cy="3893575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Define-se o p-valor como o nível de significância mais baixo ao qual a hipótese nula pode ser rejeitada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p-valores são informados sempre como um decimal e não uma porcentagem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Se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denota o nível de significância do teste, então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deve ser rejeitada se p-valor &lt;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; de outra forma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 não é rejeitada ao nível de 100.</a:t>
                </a: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%</a:t>
                </a:r>
              </a:p>
              <a:p>
                <a:pPr marL="5081" indent="0" algn="just">
                  <a:buNone/>
                </a:pPr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69806"/>
                <a:ext cx="8229600" cy="3893575"/>
              </a:xfrm>
              <a:blipFill>
                <a:blip r:embed="rId2"/>
                <a:stretch>
                  <a:fillRect l="-1852" t="-3599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349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1C81A-8A70-BAA0-4411-8C17CC20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81E564C-D4A2-2E13-52CA-EC758849EA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20645"/>
                <a:ext cx="8229600" cy="3775588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Para conhecer o p-valor é necessário: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1. Tabelas impressas extremamente detalhadas da distribuição t, ou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2.  Pacotes econométricos que calculem áreas sob a função densidade de probabilidade da distribuição t.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Pacotes econométricos geralmente reportam o p-valor para o teste da hipótese nula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contra a alternativa bilateral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81E564C-D4A2-2E13-52CA-EC758849EA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20645"/>
                <a:ext cx="8229600" cy="3775588"/>
              </a:xfrm>
              <a:blipFill>
                <a:blip r:embed="rId2"/>
                <a:stretch>
                  <a:fillRect l="-1481" t="-1613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498192-5FD0-F4CC-C320-62EA6E9D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31A41E-C8C4-4587-8D83-D1BCED0C036F}" type="slidenum">
              <a:rPr lang="pt-BR" altLang="pt-BR" smtClean="0"/>
              <a:pPr>
                <a:defRPr/>
              </a:pPr>
              <a:t>26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83520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5ABFF9-AADD-A933-7AF4-8D9A4F7A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7924800" cy="914400"/>
          </a:xfrm>
        </p:spPr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E2BE6EA-098E-85F0-0693-F2AD4C51E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94502"/>
                <a:ext cx="8229600" cy="4031227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Testes bilaterais (para a nula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contra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pt-BR" sz="280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o p-valor é  P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= 2P(T&gt;t)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Onde T denota uma variável aleatória com uma distribuição t com n-k-1 graus de liberdade e t é o valor numérico da estatística de teste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Ou seja, o p-valor é o nível de significância do teste quando se usa o valor da estatística do teste como o valor crítico para o teste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endParaRPr lang="pt-BR" sz="3200" dirty="0"/>
              </a:p>
              <a:p>
                <a:pPr marL="5081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E2BE6EA-098E-85F0-0693-F2AD4C51E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94502"/>
                <a:ext cx="8229600" cy="4031227"/>
              </a:xfrm>
              <a:blipFill>
                <a:blip r:embed="rId2"/>
                <a:stretch>
                  <a:fillRect l="-1481" t="-1513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FAB46E-C79C-17BC-D5BE-119BDEE90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31A41E-C8C4-4587-8D83-D1BCED0C036F}" type="slidenum">
              <a:rPr lang="pt-BR" altLang="pt-BR" smtClean="0"/>
              <a:pPr>
                <a:defRPr/>
              </a:pPr>
              <a:t>27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04633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E56F4-2D65-631A-58EA-FE4CEDD59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Exemplo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1300FB1-A6B6-C86D-3653-E08B66DDF0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92826"/>
                <a:ext cx="8229600" cy="4564134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40 graus de liberdade e t = 1,85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p-valor computado como p-valor = P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pt-BR" sz="2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&gt;1,85)</m:t>
                    </m:r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= 2P(T&gt;1,85)=2(0,0359)=0,0718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Em que P(T&gt;1,85) é a área à direita numa distribuição t com 40  graus de liberdade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Isto significa que se a nula for verdadeira observaríamos um valor absoluto da estatística t tão grande quanto 1,85 somente 7,2% das vezes. Isto fornece alguma evidência contra a hipótese nula, mas não se rejeitaria a nula ao nível de significância de 5%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Se a tolerância com erro Tipo I fosse pequena, o que seria representado pela escolha de um nível de significância de 5%, então não se rejeitaria a hipótese nula. Por outro lado, se essa tolerância fosse maior, por exemplo, fosse aceito um nível de significância de 10% então a hipótese nula seria rejeitada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1300FB1-A6B6-C86D-3653-E08B66DDF0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92826"/>
                <a:ext cx="8229600" cy="4564134"/>
              </a:xfrm>
              <a:blipFill>
                <a:blip r:embed="rId2"/>
                <a:stretch>
                  <a:fillRect l="-741" t="-668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D94BD8-414E-7EF9-8834-639028A65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31A41E-C8C4-4587-8D83-D1BCED0C036F}" type="slidenum">
              <a:rPr lang="pt-BR" altLang="pt-BR" smtClean="0"/>
              <a:pPr>
                <a:defRPr/>
              </a:pPr>
              <a:t>28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82238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Testes unilaterais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015613"/>
                <a:ext cx="8229600" cy="3106993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Se a alternativa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&lt;0  p-valor = P(T&lt;t) porque a distribuição t é simétrica em torno de zero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Isto pode ser obtido com ½ do p-valor para o teste de duas caudas, ou seja, para obter o p-valor para o teste unilateral basta dividir o p-valor bilateral por 2</a:t>
                </a:r>
              </a:p>
              <a:p>
                <a:pPr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Mesmo raciocínio vale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0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015613"/>
                <a:ext cx="8229600" cy="3106993"/>
              </a:xfrm>
              <a:blipFill>
                <a:blip r:embed="rId2"/>
                <a:stretch>
                  <a:fillRect l="-2222" t="-4715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857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59974"/>
            <a:ext cx="8229600" cy="439698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p-valores pequenos são em geral evidência contra a hipótese nula. Isto porque, para um dado tamanho da amostra, conforme |t| aumenta o p-valor diminui e é possível rejeitar a hipótese nula com confiança crescente 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Quando a hipótese nula não é rejeitada deve-se dizer que não é possível rejeitar a hipótese nula ao nível de significância de x%, ao invés de a hipótese nula é aceita ao nível de significância de x%</a:t>
            </a:r>
          </a:p>
        </p:txBody>
      </p:sp>
    </p:spTree>
    <p:extLst>
      <p:ext uri="{BB962C8B-B14F-4D97-AF65-F5344CB8AC3E}">
        <p14:creationId xmlns:p14="http://schemas.microsoft.com/office/powerpoint/2010/main" val="20171737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50000"/>
                  </a:schemeClr>
                </a:solidFill>
              </a:rPr>
              <a:t>Assumir que n é grande o suficiente para tratar T como tendo uma distribuição normal padrão sob a hipótese nula</a:t>
            </a:r>
            <a:endParaRPr lang="pt-BR" dirty="0">
              <a:solidFill>
                <a:schemeClr val="tx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46786"/>
                <a:ext cx="8229600" cy="3569111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Se t=0,47 p-valor = P(T&gt;0,47) =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0,32</m:t>
                    </m:r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Evidência forte de que não deve se rejeitar a hipótese nula</a:t>
                </a:r>
              </a:p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Se t=1,52 p-valor = P(T&gt;1,52) =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0,065</m:t>
                    </m:r>
                  </m:oMath>
                </a14:m>
                <a:endParaRPr lang="pt-BR" sz="2400" b="0" dirty="0">
                  <a:solidFill>
                    <a:schemeClr val="accent5">
                      <a:lumMod val="10000"/>
                    </a:schemeClr>
                  </a:solidFill>
                  <a:ea typeface="Cambria Math" panose="02040503050406030204" pitchFamily="18" charset="0"/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Evidência de que não se deve rejeitar a hipótese nula ao nível de significância de 5% e evidência de que se deve rejeitar a hipótese nula ao nível de significância de 10%.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Se t = 2,85 p-valor = P(|T|&gt;t) =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0,002186</m:t>
                    </m:r>
                  </m:oMath>
                </a14:m>
                <a:endParaRPr lang="pt-BR" sz="2400" b="0" dirty="0">
                  <a:solidFill>
                    <a:schemeClr val="accent5">
                      <a:lumMod val="10000"/>
                    </a:schemeClr>
                  </a:solidFill>
                  <a:ea typeface="Cambria Math" panose="02040503050406030204" pitchFamily="18" charset="0"/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Evidência de que se deve rejeitar a hipótese nula ao nível de significância de 5%</a:t>
                </a:r>
              </a:p>
              <a:p>
                <a:pPr algn="just"/>
                <a:endParaRPr lang="pt-BR" sz="2400" dirty="0"/>
              </a:p>
              <a:p>
                <a:pPr algn="just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46786"/>
                <a:ext cx="8229600" cy="3569111"/>
              </a:xfrm>
              <a:blipFill>
                <a:blip r:embed="rId2"/>
                <a:stretch>
                  <a:fillRect l="-2222" t="-5290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7844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773502"/>
          </a:xfrm>
        </p:spPr>
        <p:txBody>
          <a:bodyPr>
            <a:normAutofit/>
          </a:bodyPr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Intervalo de confiança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081" indent="0" algn="just">
                  <a:buNone/>
                </a:pPr>
                <a:endParaRPr lang="pt-BR" sz="2800" dirty="0"/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Intervalo construído de tal maneira que exista uma probabilidade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dele incluir em seus limites o valor verdadeiro do parâmetro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Quando por exemplo,  </a:t>
                </a:r>
                <a14:m>
                  <m:oMath xmlns:m="http://schemas.openxmlformats.org/officeDocument/2006/math">
                    <m:r>
                      <a:rPr lang="pt-BR" sz="280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=0,05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ou 5%  diz-se que a probabilidade do intervalo incluir o valor verdadeiro do parâmetro é de 0,95 ou 95%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976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20644"/>
                <a:ext cx="8229600" cy="4436315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Lembrando que, por exemplo,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box>
                      <m:box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BR" sz="24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4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𝑑𝑝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BR" sz="24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4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box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pt-BR" sz="24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𝑒𝑠𝑡𝑖𝑚𝑎𝑑𝑜𝑟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𝑝𝑎𝑟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â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𝑚𝑒𝑡𝑟𝑜</m:t>
                            </m:r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𝑑𝑒𝑠𝑣𝑖𝑜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𝑝𝑎𝑑𝑟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ã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𝑒𝑠𝑡𝑖𝑚𝑎𝑑𝑜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𝑑𝑜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𝑒𝑠𝑡𝑖𝑚𝑎𝑑𝑜𝑟</m:t>
                            </m:r>
                          </m:den>
                        </m:f>
                      </m:e>
                    </m:box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 (1)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Lembrando ainda que a variável t segue a distribuição t, usar a distribuição t para estabelecer um intervalo de confiança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como segue: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(−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</m:e>
                    </m:func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) =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   (2)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Em que o valor t no meio desta dupla desigualdade é o valor t dado por (1) e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o valor da variável t obtido da distribuição t para o nível de significância </a:t>
                </a:r>
                <a14:m>
                  <m:oMath xmlns:m="http://schemas.openxmlformats.org/officeDocument/2006/math">
                    <m:r>
                      <a:rPr lang="pt-BR" sz="240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 n-2 graus de liberdade na regressão simples e n-k-1 graus de liberdade na regressão múltipla, ou seja,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o t crítico ou simplesmente c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20644"/>
                <a:ext cx="8229600" cy="4436315"/>
              </a:xfrm>
              <a:blipFill>
                <a:blip r:embed="rId2"/>
                <a:stretch>
                  <a:fillRect l="-1111" t="-1099" r="-1111" b="-6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006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782128"/>
          </a:xfrm>
        </p:spPr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86348"/>
                <a:ext cx="8229600" cy="4050891"/>
              </a:xfrm>
            </p:spPr>
            <p:txBody>
              <a:bodyPr>
                <a:normAutofit fontScale="47500" lnSpcReduction="20000"/>
              </a:bodyPr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Substituindo (1) em (2) resulta em: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67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Pr</m:t>
                    </m:r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⁡[−</m:t>
                    </m:r>
                    <m:sSub>
                      <m:sSub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box>
                      <m:box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pt-BR" sz="67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67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BR" sz="67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67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BR" sz="67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1 −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67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67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pt-BR" sz="67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pt-BR" sz="67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𝑑𝑝</m:t>
                            </m:r>
                            <m:d>
                              <m:dPr>
                                <m:ctrlPr>
                                  <a:rPr lang="pt-BR" sz="67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67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6700" b="0" i="1" smtClean="0">
                                            <a:solidFill>
                                              <a:schemeClr val="accent5">
                                                <a:lumMod val="1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6700" b="0" i="1" smtClean="0">
                                            <a:solidFill>
                                              <a:schemeClr val="accent5">
                                                <a:lumMod val="1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pt-BR" sz="67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box>
                    <m:sSub>
                      <m:sSub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     (3)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Rearranjando (3) tem-se: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6700" dirty="0" err="1">
                    <a:solidFill>
                      <a:schemeClr val="accent5">
                        <a:lumMod val="10000"/>
                      </a:schemeClr>
                    </a:solidFill>
                  </a:rPr>
                  <a:t>Pr</a:t>
                </a:r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67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67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67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67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m:rPr>
                        <m:sty m:val="p"/>
                      </m:rPr>
                      <a:rPr lang="pt-BR" sz="67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dp</m:t>
                    </m:r>
                    <m:d>
                      <m:d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67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67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67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67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67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67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𝑑𝑝</m:t>
                    </m:r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67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67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)] = </a:t>
                </a:r>
                <a14:m>
                  <m:oMath xmlns:m="http://schemas.openxmlformats.org/officeDocument/2006/math"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     (4)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Equação (4) fornece um intervalo de confiança de </a:t>
                </a:r>
                <a14:m>
                  <m:oMath xmlns:m="http://schemas.openxmlformats.org/officeDocument/2006/math"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67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67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67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Esse intervalo pode ser escrito de forma resumida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67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67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67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670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pt-BR" sz="67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67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𝑑𝑝</m:t>
                    </m:r>
                    <m:r>
                      <a:rPr lang="pt-BR" sz="67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67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67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67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6700" dirty="0">
                    <a:solidFill>
                      <a:schemeClr val="accent5">
                        <a:lumMod val="10000"/>
                      </a:schemeClr>
                    </a:solidFill>
                  </a:rPr>
                  <a:t>) 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86348"/>
                <a:ext cx="8229600" cy="4050891"/>
              </a:xfrm>
              <a:blipFill>
                <a:blip r:embed="rId2"/>
                <a:stretch>
                  <a:fillRect l="-1852" t="-4511" r="-1852" b="-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4355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69806"/>
                <a:ext cx="8229600" cy="4387154"/>
              </a:xfrm>
            </p:spPr>
            <p:txBody>
              <a:bodyPr/>
              <a:lstStyle/>
              <a:p>
                <a:endParaRPr lang="pt-BR" sz="2800" dirty="0"/>
              </a:p>
              <a:p>
                <a:pPr marL="5081" indent="0"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De forma análoga para o intercepto:</a:t>
                </a:r>
              </a:p>
              <a:p>
                <a:pPr marL="508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Pr</m:t>
                    </m:r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⁡[−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box>
                      <m:box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28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BR" sz="2800" i="1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800" i="1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BR" sz="28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28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𝑑𝑝</m:t>
                            </m:r>
                            <m:d>
                              <m:dPr>
                                <m:ctrlPr>
                                  <a:rPr lang="pt-BR" sz="28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2800" i="1">
                                            <a:solidFill>
                                              <a:schemeClr val="accent5">
                                                <a:lumMod val="1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800" i="1">
                                            <a:solidFill>
                                              <a:schemeClr val="accent5">
                                                <a:lumMod val="1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pt-BR" sz="28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box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Ou de forma resumida:</a:t>
                </a:r>
              </a:p>
              <a:p>
                <a:pPr marL="5081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𝑑𝑝</m:t>
                    </m:r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69806"/>
                <a:ext cx="8229600" cy="4387154"/>
              </a:xfrm>
              <a:blipFill>
                <a:blip r:embed="rId2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349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solidFill>
                  <a:schemeClr val="tx2">
                    <a:lumMod val="50000"/>
                  </a:schemeClr>
                </a:solidFill>
              </a:rPr>
              <a:t>Característica importante dos intervalos de confiança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18968"/>
            <a:ext cx="8229600" cy="3618271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A amplitude do intervalo de confiança é proporcional ao desvio-padrão do estimador, ou seja, quanto maior o desvio-padrão, maior a amplitude do intervalo de confiança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Dito de outra forma, quanto maior o desvio-padrão do estimador, maior a incerteza de se estimar o verdadeiro valor do parâmetro desconhecido. Assim, o desvio-padrão de um estimador é muitas vezes descrito como uma medida de precisão do estimador, isto é, quão precisamente o estimador mede o valor da população verdadeiro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12668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0C275-23C6-A64A-0752-AF19AF7BA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530942"/>
          </a:xfrm>
        </p:spPr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CF6A7DB-7FF2-E6EE-78BB-B71B01E283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081" indent="0" algn="just"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Intervalo de confiança é tão bom quanto as hipóteses subjacentes usadas para construí-lo</a:t>
                </a:r>
              </a:p>
              <a:p>
                <a:pPr marL="5081" indent="0" algn="just"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1. Se fatores importantes que são correlacionados com as variáveis explicativas forem omitidos, então as estimativas dos coeficientes não são confiáveis: MQO é viesado</a:t>
                </a:r>
              </a:p>
              <a:p>
                <a:pPr marL="5081" indent="0" algn="just"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2. Se heterocedasticidade está presente , o desvio-padrão não é válido como uma estimativa de </a:t>
                </a:r>
                <a:r>
                  <a:rPr lang="pt-BR" sz="2000" dirty="0" err="1">
                    <a:solidFill>
                      <a:schemeClr val="accent5">
                        <a:lumMod val="10000"/>
                      </a:schemeClr>
                    </a:solidFill>
                  </a:rPr>
                  <a:t>dp</a:t>
                </a: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0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0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e o intervalo de confiança calculado ao usar esses desvios-padrão não será, verdadeiramente, um IC de 95%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3. Também usamos a hipótese de normalidade dos erros, mas isso não é tão importante para aplicações que envolvem muitas observações como veremos no final do curso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CF6A7DB-7FF2-E6EE-78BB-B71B01E283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BC2A5C-E0BC-CFF0-BA39-25DADA67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31A41E-C8C4-4587-8D83-D1BCED0C036F}" type="slidenum">
              <a:rPr lang="pt-BR" altLang="pt-BR" smtClean="0"/>
              <a:pPr>
                <a:defRPr/>
              </a:pPr>
              <a:t>37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648395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pt-BR" altLang="pt-BR" sz="2800" dirty="0"/>
          </a:p>
        </p:txBody>
      </p:sp>
      <p:sp>
        <p:nvSpPr>
          <p:cNvPr id="2969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18967"/>
            <a:ext cx="8229600" cy="2989007"/>
          </a:xfrm>
        </p:spPr>
        <p:txBody>
          <a:bodyPr>
            <a:normAutofit/>
          </a:bodyPr>
          <a:lstStyle/>
          <a:p>
            <a:pPr indent="-4572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altLang="pt-BR" sz="2800" dirty="0">
                <a:solidFill>
                  <a:schemeClr val="accent5">
                    <a:lumMod val="10000"/>
                  </a:schemeClr>
                </a:solidFill>
              </a:rPr>
              <a:t>Até agora: hipóteses envolvem uma única restrição </a:t>
            </a:r>
          </a:p>
          <a:p>
            <a:pPr indent="-4572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altLang="pt-BR" sz="2800" dirty="0">
                <a:solidFill>
                  <a:schemeClr val="accent5">
                    <a:lumMod val="10000"/>
                  </a:schemeClr>
                </a:solidFill>
              </a:rPr>
              <a:t>Testar se o parâmetro desconhecido na população é igual a qualquer constante (que é usualmente, mas não sempre zero)</a:t>
            </a:r>
          </a:p>
          <a:p>
            <a:pPr indent="-4572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altLang="pt-BR" sz="2800" dirty="0">
                <a:solidFill>
                  <a:schemeClr val="accent5">
                    <a:lumMod val="10000"/>
                  </a:schemeClr>
                </a:solidFill>
              </a:rPr>
              <a:t>Frequentemente, desejamos também testar hipóteses múltiplas sobre os parâmetros da população</a:t>
            </a:r>
          </a:p>
        </p:txBody>
      </p:sp>
    </p:spTree>
    <p:extLst>
      <p:ext uri="{BB962C8B-B14F-4D97-AF65-F5344CB8AC3E}">
        <p14:creationId xmlns:p14="http://schemas.microsoft.com/office/powerpoint/2010/main" val="10593699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5F6A5-A77F-4AC8-7E30-CB4D4357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01213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Teste de restrições de exclusão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BF620A-7A4F-9489-FBC3-605A2914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39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EE25F809-08A3-13FC-1C13-C5BA4D25256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10812"/>
                <a:ext cx="8229600" cy="4178711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Testar de um conjunto de variáveis independentes não tem um efeito parcial sobre uma variável dependente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Modelo irrestrito com k variáveis independentes: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     (1)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Supor que existem q restrições de exclusão para testar, ou seja, a hipótese nula afirma que q variáveis têm coeficientes zero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Para simplificar assumir que são as últimas </a:t>
                </a:r>
                <a:r>
                  <a:rPr lang="pt-BR" sz="2200" i="1" dirty="0">
                    <a:solidFill>
                      <a:schemeClr val="accent5">
                        <a:lumMod val="10000"/>
                      </a:schemeClr>
                    </a:solidFill>
                  </a:rPr>
                  <a:t>q</a:t>
                </a: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 variáveis: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pt-BR" sz="22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sz="22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20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pt-BR" sz="22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pt-BR" sz="22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2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pt-BR" sz="22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=0,…,</m:t>
                        </m:r>
                        <m:sSub>
                          <m:sSubPr>
                            <m:ctrlPr>
                              <a:rPr lang="pt-BR" sz="22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2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pt-BR" sz="22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  <m:sub/>
                    </m:sSub>
                  </m:oMath>
                </a14:m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     (2)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 é falsa: pelo menos um dos parâmetros em (2) é diferente de zero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EE25F809-08A3-13FC-1C13-C5BA4D252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10812"/>
                <a:ext cx="8229600" cy="4178711"/>
              </a:xfrm>
              <a:blipFill>
                <a:blip r:embed="rId2"/>
                <a:stretch>
                  <a:fillRect l="-2222" t="-6131" r="-9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8522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B02BD-7D91-BAE2-1CDD-260973521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63561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A55124D-FA39-76D6-87D9-F3E7213F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40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7363B54-F196-9055-7B59-3D4BB06F013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582994"/>
                <a:ext cx="8229600" cy="4573966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Modelo restrito:</a:t>
                </a:r>
              </a:p>
              <a:p>
                <a:pPr marL="5081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    (3)</a:t>
                </a:r>
              </a:p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Estatística do teste (estatística F)</a:t>
                </a:r>
              </a:p>
              <a:p>
                <a:pPr marL="5081" indent="0">
                  <a:spcBef>
                    <a:spcPts val="0"/>
                  </a:spcBef>
                  <a:buNone/>
                </a:pPr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𝑆𝑄𝑅</m:t>
                              </m:r>
                            </m:e>
                            <m:sub>
                              <m:r>
                                <a:rPr lang="pt-BR" sz="28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𝑆𝑄𝑅</m:t>
                              </m:r>
                            </m:e>
                            <m:sub>
                              <m:r>
                                <a:rPr lang="pt-BR" sz="28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𝑖𝑟</m:t>
                              </m:r>
                            </m:sub>
                          </m:sSub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pt-BR" sz="28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𝑆𝑄𝑅</m:t>
                              </m:r>
                            </m:e>
                            <m:sub>
                              <m:r>
                                <a:rPr lang="pt-BR" sz="28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𝑖𝑟</m:t>
                              </m:r>
                            </m:sub>
                          </m:sSub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𝑆𝑄𝑅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é a soma dos quadrados dos resíduos do modelo restrito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𝑆𝑄𝑅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𝑖𝑟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é a soma dos quadrados dos resíduos do modelo irrestrito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7363B54-F196-9055-7B59-3D4BB06F0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582994"/>
                <a:ext cx="8229600" cy="4573966"/>
              </a:xfrm>
              <a:blipFill>
                <a:blip r:embed="rId2"/>
                <a:stretch>
                  <a:fillRect l="-2222" t="-4000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61200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707923"/>
          </a:xfrm>
        </p:spPr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55174"/>
                <a:ext cx="8229600" cy="4701785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000" dirty="0"/>
                  <a:t> </a:t>
                </a: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𝑆𝑄𝑅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não pode ser menor do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𝑆𝑄𝑅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𝑖𝑟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, a estatística F é positiva. Assim, calcular uma estatística F negativa indica que algo está errado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O SQR no denominador de F é o SQR do modelo irrestrito. A maneira mais fácil de lembrar onde 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𝑆𝑄𝑅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aparecem é pensar em F medindo o aumento relativo em SQR quando nos movemos do modelo irrestrito para o restrito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A diferença nos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𝑆𝑄𝑅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no numerador de F é dividida por </a:t>
                </a:r>
                <a:r>
                  <a:rPr lang="pt-BR" sz="2000" i="1" dirty="0">
                    <a:solidFill>
                      <a:schemeClr val="accent5">
                        <a:lumMod val="10000"/>
                      </a:schemeClr>
                    </a:solidFill>
                  </a:rPr>
                  <a:t>q</a:t>
                </a: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, o número de restrições impostas ao movermos do modelo irrestrito para o restrito (</a:t>
                </a:r>
                <a:r>
                  <a:rPr lang="pt-BR" sz="2000" i="1" dirty="0">
                    <a:solidFill>
                      <a:schemeClr val="accent5">
                        <a:lumMod val="10000"/>
                      </a:schemeClr>
                    </a:solidFill>
                  </a:rPr>
                  <a:t>q</a:t>
                </a: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variáveis independentes foram retiradas)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pt-BR" sz="2000" i="1" dirty="0">
                    <a:solidFill>
                      <a:schemeClr val="accent5">
                        <a:lumMod val="10000"/>
                      </a:schemeClr>
                    </a:solidFill>
                  </a:rPr>
                  <a:t>q</a:t>
                </a: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= graus de liberdade do numerador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𝑔𝑙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20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𝑔𝑙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𝑖𝑟</m:t>
                        </m:r>
                      </m:sub>
                    </m:sSub>
                  </m:oMath>
                </a14:m>
                <a:endParaRPr lang="pt-BR" sz="20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  <a:r>
                  <a:rPr lang="pt-BR" sz="2000" i="1" dirty="0">
                    <a:solidFill>
                      <a:schemeClr val="accent5">
                        <a:lumMod val="10000"/>
                      </a:schemeClr>
                    </a:solidFill>
                  </a:rPr>
                  <a:t> SQR </a:t>
                </a: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no denominador de F é dividido pelos graus de liberdade do modelo irrestrito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pt-BR" sz="2000" i="1" dirty="0">
                    <a:solidFill>
                      <a:schemeClr val="accent5">
                        <a:lumMod val="10000"/>
                      </a:schemeClr>
                    </a:solidFill>
                  </a:rPr>
                  <a:t>n – k – 1 </a:t>
                </a: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= graus de liberdade do denominador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𝑔𝑙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𝑖𝑟</m:t>
                        </m:r>
                      </m:sub>
                    </m:sSub>
                  </m:oMath>
                </a14:m>
                <a:endParaRPr lang="pt-BR" sz="20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0" indent="0" algn="just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55174"/>
                <a:ext cx="8229600" cy="4701785"/>
              </a:xfrm>
              <a:blipFill>
                <a:blip r:embed="rId2"/>
                <a:stretch>
                  <a:fillRect l="-1852" t="-5188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8994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38632"/>
                <a:ext cx="8229600" cy="3883742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A fim de usar a estatística F é preciso conhecer sua distribuição amostral sob a hipótese nula para escolher os valores críticos e as regras de rejeição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É possível mostrar que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𝑆𝑄𝑅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𝑆𝑄𝑅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𝑖𝑟</m:t>
                                </m:r>
                              </m:sub>
                            </m:s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)/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sSub>
                              <m:sSubPr>
                                <m:ctrlP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𝑆𝑄𝑅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𝑖𝑟</m:t>
                                </m:r>
                              </m:sub>
                            </m:s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/(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den>
                        </m:f>
                      </m:e>
                    </m:box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a razão de duas variáveis aleatórias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independentes, divididas por seus respectivos graus de liberdade. A variável aleatória </a:t>
                </a:r>
                <a:r>
                  <a:rPr lang="pt-BR" sz="2400" dirty="0" err="1">
                    <a:solidFill>
                      <a:schemeClr val="accent5">
                        <a:lumMod val="10000"/>
                      </a:schemeClr>
                    </a:solidFill>
                  </a:rPr>
                  <a:t>qui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-quadrado no numerador tem </a:t>
                </a:r>
                <a:r>
                  <a:rPr lang="pt-BR" sz="2400" i="1" dirty="0">
                    <a:solidFill>
                      <a:schemeClr val="accent5">
                        <a:lumMod val="10000"/>
                      </a:schemeClr>
                    </a:solidFill>
                  </a:rPr>
                  <a:t>q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graus de liberdade e a </a:t>
                </a:r>
                <a:r>
                  <a:rPr lang="pt-BR" sz="2400" dirty="0" err="1">
                    <a:solidFill>
                      <a:schemeClr val="accent5">
                        <a:lumMod val="10000"/>
                      </a:schemeClr>
                    </a:solidFill>
                  </a:rPr>
                  <a:t>qui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-quadrado no denominador tem </a:t>
                </a:r>
                <a:r>
                  <a:rPr lang="pt-BR" sz="2400" i="1" dirty="0">
                    <a:solidFill>
                      <a:schemeClr val="accent5">
                        <a:lumMod val="10000"/>
                      </a:schemeClr>
                    </a:solidFill>
                  </a:rPr>
                  <a:t>n-k-1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graus de liberdade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Assim, F é distribuído como: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38632"/>
                <a:ext cx="8229600" cy="3883742"/>
              </a:xfrm>
              <a:blipFill>
                <a:blip r:embed="rId2"/>
                <a:stretch>
                  <a:fillRect l="-2222" t="-5965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70304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E065B-37E1-6F27-9D80-8F9EC658B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73394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D93CA2F-5BB7-E8EE-E79A-4F15AC23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43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D5884B49-2B81-3AD6-8883-92FC8761185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592826"/>
                <a:ext cx="8229600" cy="4247535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Uma vez obtido c (o valor crítico) rejeitar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em favor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ao nível de significância escolhido se </a:t>
                </a:r>
                <a14:m>
                  <m:oMath xmlns:m="http://schemas.openxmlformats.org/officeDocument/2006/math">
                    <m:r>
                      <a:rPr lang="pt-BR" sz="2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sz="2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pt-BR" sz="26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é rejeitada dizemos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pt-BR" sz="26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são estatisticamente significativas conjuntamente (ou apenas conjuntamente significativas) ao nível de significância apropriado. Se a hipótese nula não for rejeitada, as variáveis são conjuntamente não significativas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é rejeitada não é possível dizer quais das variáveis têm um efeito parcial sobre </a:t>
                </a:r>
                <a:r>
                  <a:rPr lang="pt-BR" sz="2600" i="1" dirty="0">
                    <a:solidFill>
                      <a:schemeClr val="accent5">
                        <a:lumMod val="10000"/>
                      </a:schemeClr>
                    </a:solidFill>
                  </a:rPr>
                  <a:t>y</a:t>
                </a: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; todas elas podem afetar </a:t>
                </a:r>
                <a:r>
                  <a:rPr lang="pt-BR" sz="2600" i="1" dirty="0">
                    <a:solidFill>
                      <a:schemeClr val="accent5">
                        <a:lumMod val="10000"/>
                      </a:schemeClr>
                    </a:solidFill>
                  </a:rPr>
                  <a:t>y</a:t>
                </a: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ou talvez somente uma afete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D5884B49-2B81-3AD6-8883-92FC87611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592826"/>
                <a:ext cx="8229600" cy="4247535"/>
              </a:xfrm>
              <a:blipFill>
                <a:blip r:embed="rId2"/>
                <a:stretch>
                  <a:fillRect l="-2222" t="-4735" r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039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712BB-9DCE-B68E-FC31-41CC5E7B8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9"/>
            <a:ext cx="8229600" cy="1268361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Relação entre as estatísticas t e F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A87E67C-0D73-8387-51D2-AAFF0D43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44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EEAFB8D6-A85D-C1B6-4E8F-4B00CD36ACC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809135"/>
                <a:ext cx="8229600" cy="3923072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É possível mostrar que a estatística F para testar a exclusão de uma única variável é igual ao quadrado da estatística t correspondente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Como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tem uma distribuição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, as duas abordagens levam exatamente ao mesmo resultado, desde que a hipótese nula seja bilateral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A estatística t é mais flexível para testar uma única hipótese porque ela pode ser usada para testar alternativas unilaterais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Não há razão para usar uma estatística F para testar hipóteses sobre um único parâmetro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EEAFB8D6-A85D-C1B6-4E8F-4B00CD36AC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809135"/>
                <a:ext cx="8229600" cy="3923072"/>
              </a:xfrm>
              <a:blipFill>
                <a:blip r:embed="rId2"/>
                <a:stretch>
                  <a:fillRect l="-2222" t="-5910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2126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208206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accent5">
                    <a:lumMod val="10000"/>
                  </a:schemeClr>
                </a:solidFill>
              </a:rPr>
              <a:t>Duas ou mais variáveis que têm, cada uma , estatísticas t não significantes podem ser conjuntamente significantes. Também é possível que, em um grupo de muitas variáveis explicativas, uma variável tenha uma estatística t significante, mas o grupo de variáveis seja conjuntamente não significante 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accent5">
                    <a:lumMod val="10000"/>
                  </a:schemeClr>
                </a:solidFill>
              </a:rPr>
              <a:t>Conflitos entre um teste t e um teste F conjunto são outra razão pela qual não se deve “aceitar” hipóteses nulas; é possível somente não rejeitá-las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accent5">
                    <a:lumMod val="10000"/>
                  </a:schemeClr>
                </a:solidFill>
              </a:rPr>
              <a:t>Espera-se que a estatística F revele se qualquer combinação de um conjunto de coeficientes é diferente de zero, mas ela nunca é o melhor  teste para determinar se um único coeficiente é diferente de zero. O teste t é mais apropriado para testar uma única hipótese</a:t>
            </a:r>
          </a:p>
        </p:txBody>
      </p:sp>
    </p:spTree>
    <p:extLst>
      <p:ext uri="{BB962C8B-B14F-4D97-AF65-F5344CB8AC3E}">
        <p14:creationId xmlns:p14="http://schemas.microsoft.com/office/powerpoint/2010/main" val="12888784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E1AE8-6409-9861-C71C-D28AC1A4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155858" cy="1143000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A forma R-quadrado da estatística F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2CEC420-FFEB-CEEC-F2A6-60F48EF06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46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D42AEF2B-4CFF-55E3-1B6C-F287A3043FD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858297"/>
                <a:ext cx="8229600" cy="3746090"/>
              </a:xfrm>
            </p:spPr>
            <p:txBody>
              <a:bodyPr/>
              <a:lstStyle/>
              <a:p>
                <a:pPr marL="5081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𝑆𝑄𝑅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𝑆𝑄𝑇</m:t>
                      </m:r>
                      <m:r>
                        <a:rPr lang="pt-BR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Sup>
                        <m:sSubSupPr>
                          <m:ctrlP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spcBef>
                    <a:spcPts val="0"/>
                  </a:spcBef>
                  <a:buNone/>
                </a:pPr>
                <a:endParaRPr lang="pt-BR" i="1" dirty="0">
                  <a:solidFill>
                    <a:schemeClr val="accent5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5081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𝑆𝑄𝑅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pt-BR" i="1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𝑆𝑄𝑇</m:t>
                      </m:r>
                      <m:d>
                        <m:dPr>
                          <m:ctrlPr>
                            <a:rPr lang="pt-BR" i="1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pt-BR" dirty="0"/>
              </a:p>
              <a:p>
                <a:pPr marL="5081" indent="0">
                  <a:buNone/>
                </a:pPr>
                <a:endParaRPr lang="pt-BR" i="1" dirty="0">
                  <a:solidFill>
                    <a:schemeClr val="accent5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508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i="1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pt-BR" i="1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𝑖𝑟</m:t>
                                  </m:r>
                                </m:sub>
                                <m:sup>
                                  <m: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pt-BR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pt-BR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Sup>
                                <m:sSubSupPr>
                                  <m:ctrlP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𝑖𝑟</m:t>
                                  </m:r>
                                </m:sub>
                                <m:sup>
                                  <m:r>
                                    <a:rPr lang="pt-BR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pt-BR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/(</m:t>
                              </m:r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pt-BR" dirty="0"/>
              </a:p>
              <a:p>
                <a:pPr marL="5081" indent="0">
                  <a:buNone/>
                </a:pP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Como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𝑖𝑟</m:t>
                        </m:r>
                      </m:sub>
                      <m:sup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Sup>
                      <m:sSubSupPr>
                        <m:ctrlP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pt-BR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dirty="0"/>
                  <a:t>, </a:t>
                </a:r>
                <a:r>
                  <a:rPr lang="pt-BR" i="1" dirty="0">
                    <a:solidFill>
                      <a:schemeClr val="accent5">
                        <a:lumMod val="10000"/>
                      </a:schemeClr>
                    </a:solidFill>
                  </a:rPr>
                  <a:t>F</a:t>
                </a:r>
                <a:r>
                  <a:rPr lang="pt-BR" dirty="0">
                    <a:solidFill>
                      <a:schemeClr val="accent5">
                        <a:lumMod val="10000"/>
                      </a:schemeClr>
                    </a:solidFill>
                  </a:rPr>
                  <a:t> sempre será positivo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D42AEF2B-4CFF-55E3-1B6C-F287A3043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858297"/>
                <a:ext cx="8229600" cy="3746090"/>
              </a:xfrm>
              <a:blipFill>
                <a:blip r:embed="rId2"/>
                <a:stretch>
                  <a:fillRect l="-1852" b="-19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4254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80F07-106F-58D6-1BAF-C4278580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pt-BR" sz="4000" dirty="0">
                <a:solidFill>
                  <a:schemeClr val="tx2">
                    <a:lumMod val="50000"/>
                  </a:schemeClr>
                </a:solidFill>
              </a:rPr>
              <a:t>p-valor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188A2FB-1762-3E5E-FD74-3C8558CF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47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986B069F-F252-94E8-F144-87DAC5F95D3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22322"/>
                <a:ext cx="8229600" cy="4534637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p-valor no contexto do teste F é definido como: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𝑣𝑎𝑙𝑜𝑟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ℑ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Em que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ℑ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representa uma variável aleatória F com q, n-k-1 graus de liberdade e F é a estatística do teste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Interpretação não muda: o p-valor é a probabilidade de se observar um valor F pelo menos tão grande quanto aquele encontrado, dado que a hipótese nula é verdadeira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p-valor pequeno é evidência contra a hipótese nula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986B069F-F252-94E8-F144-87DAC5F95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22322"/>
                <a:ext cx="8229600" cy="4534637"/>
              </a:xfrm>
              <a:blipFill>
                <a:blip r:embed="rId2"/>
                <a:stretch>
                  <a:fillRect l="-2222" t="-3898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1227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2C0E3-5798-5E65-543B-A0AE80E45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4632"/>
            <a:ext cx="7772400" cy="1143000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65669C-F533-92D9-C9A7-E747F223B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46786"/>
            <a:ext cx="8229600" cy="3519949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p-valor = 0,016 significa que a probabilidade de observar um valor de F tão grande quanto observamos quando a hipótese nula é verdadeira é somente 1,6%, ou seja, rejeita-se a hipótese nula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p-valor = 0,314 significa que a probabilidade de observar um valor de F tão grande quanto observamos quando a hipótese nula é verdadeira é 31,4, ou seja, não rejeita-se a hipótese nula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B185D7-666F-8160-F15A-6D2FEC1A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31A41E-C8C4-4587-8D83-D1BCED0C036F}" type="slidenum">
              <a:rPr lang="pt-BR" altLang="pt-BR" smtClean="0"/>
              <a:pPr>
                <a:defRPr/>
              </a:pPr>
              <a:t>48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404682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208F2-B42E-53B7-69D3-3FB723DB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9"/>
            <a:ext cx="8229600" cy="1117929"/>
          </a:xfrm>
        </p:spPr>
        <p:txBody>
          <a:bodyPr/>
          <a:lstStyle/>
          <a:p>
            <a:pPr algn="just"/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Teste para a significância geral de uma regressão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6C5300E-C246-EC23-A65C-B823AAD6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49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E0545CC9-C100-7E9E-F9E0-C1D0888A22A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10813"/>
                <a:ext cx="8229600" cy="4446146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Conjunto especial de restrições de exclusão: nenhuma das variáveis explicativas tem um efeito sobre y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não ajudam a explicar </a:t>
                </a:r>
                <a:r>
                  <a:rPr lang="pt-BR" sz="2800" i="1" dirty="0">
                    <a:solidFill>
                      <a:schemeClr val="accent5">
                        <a:lumMod val="10000"/>
                      </a:schemeClr>
                    </a:solidFill>
                  </a:rPr>
                  <a:t>y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Expressa em termos dos parâmetros, a hipótese nula é que todos os parâmetros de inclinação são zero: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800" i="1" dirty="0">
                    <a:solidFill>
                      <a:schemeClr val="accent5">
                        <a:lumMod val="10000"/>
                      </a:schemeClr>
                    </a:solidFill>
                  </a:rPr>
                  <a:t>=0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E a hipótese alternativa é que pelo menos um 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i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2800" b="0" i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seja diferente de zero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E0545CC9-C100-7E9E-F9E0-C1D0888A2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10813"/>
                <a:ext cx="8229600" cy="4446146"/>
              </a:xfrm>
              <a:blipFill>
                <a:blip r:embed="rId2"/>
                <a:stretch>
                  <a:fillRect l="-2222" t="-4115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46748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1CE00-0A00-E34D-B375-C41BE376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9473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34317C1-A215-5FDE-BE92-9D3C9206D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50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2F470039-ADD2-657A-8113-8605C6FD564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366684"/>
                <a:ext cx="8229600" cy="4591664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Modelo restrito (todas as variáveis explicativas são retiradas da equação)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Agora o R-quadrado é zero; nada da variação em y está sendo explicada pela regressão simplesmente porque não existem variáveis explicativas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Estatística F pode ser escrita como: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400" dirty="0"/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400" i="1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pt-BR" sz="2400" i="1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40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pt-BR" sz="24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p>
                                <m:sSupPr>
                                  <m:ctrlPr>
                                    <a:rPr lang="pt-BR" sz="240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)/(</m:t>
                              </m:r>
                              <m:r>
                                <a:rPr lang="pt-BR" sz="2400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400" i="1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pt-BR" sz="2400" dirty="0"/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400" dirty="0"/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Em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R-quadrado usual da regressão de y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pt-BR" sz="2400" dirty="0"/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2F470039-ADD2-657A-8113-8605C6FD56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366684"/>
                <a:ext cx="8229600" cy="4591664"/>
              </a:xfrm>
              <a:blipFill>
                <a:blip r:embed="rId2"/>
                <a:stretch>
                  <a:fillRect l="-2222" t="-4914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4745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94100-A0D9-97D8-AA2A-ED8CAA32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04800"/>
            <a:ext cx="8229599" cy="737419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Exemplos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E2E7B11-1C56-DEDB-8AB9-F822085F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51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DDC7CA-F394-5984-23BE-5D01DC6BE0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81316"/>
            <a:ext cx="8229600" cy="29300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4">
                    <a:lumMod val="50000"/>
                  </a:schemeClr>
                </a:solidFill>
              </a:rPr>
              <a:t>Ilustrações com diferentes exemplos (quadro)</a:t>
            </a:r>
          </a:p>
        </p:txBody>
      </p:sp>
    </p:spTree>
    <p:extLst>
      <p:ext uri="{BB962C8B-B14F-4D97-AF65-F5344CB8AC3E}">
        <p14:creationId xmlns:p14="http://schemas.microsoft.com/office/powerpoint/2010/main" val="385247352"/>
      </p:ext>
    </p:extLst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4110</Words>
  <Application>Microsoft Office PowerPoint</Application>
  <PresentationFormat>Apresentação na tela (4:3)</PresentationFormat>
  <Paragraphs>265</Paragraphs>
  <Slides>51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6" baseType="lpstr">
      <vt:lpstr>Arial</vt:lpstr>
      <vt:lpstr>Cambria Math</vt:lpstr>
      <vt:lpstr>Noto Sans Symbols</vt:lpstr>
      <vt:lpstr>Times New Roman</vt:lpstr>
      <vt:lpstr>1_Blueprint</vt:lpstr>
      <vt:lpstr>Aula 16, 17 e 18 Inferência no modelo de regressão</vt:lpstr>
      <vt:lpstr>Apresentação do PowerPoint</vt:lpstr>
      <vt:lpstr>Apresentação do PowerPoint</vt:lpstr>
      <vt:lpstr>Apresentação do PowerPoint</vt:lpstr>
      <vt:lpstr>Por que a hipótese de normalidade?</vt:lpstr>
      <vt:lpstr>Por que a hipótese de normalidade?</vt:lpstr>
      <vt:lpstr>Normalidade de u é uma questão empírica</vt:lpstr>
      <vt:lpstr>JB</vt:lpstr>
      <vt:lpstr>Apresentação do PowerPoint</vt:lpstr>
      <vt:lpstr>Teste de hipóteses sobre um único parâmetro populacional: teste t</vt:lpstr>
      <vt:lpstr>Apresentação do PowerPoint</vt:lpstr>
      <vt:lpstr>Apresentação do PowerPoint</vt:lpstr>
      <vt:lpstr>Teste de hipóteses alternativas unilaterais</vt:lpstr>
      <vt:lpstr>Apresentação do PowerPoint</vt:lpstr>
      <vt:lpstr>Apresentação do PowerPoint</vt:lpstr>
      <vt:lpstr>Teste de hipóteses alternativas bilaterais</vt:lpstr>
      <vt:lpstr>Apresentação do PowerPoint</vt:lpstr>
      <vt:lpstr>Teste de outras hipóteses sobre β_j</vt:lpstr>
      <vt:lpstr>Teste de uma única hipótese envolvendo mais de um dos β_j</vt:lpstr>
      <vt:lpstr>Apresentação do PowerPoint</vt:lpstr>
      <vt:lpstr>Significância econômica ou prática versus significância estatística</vt:lpstr>
      <vt:lpstr>Abordagem tradicional</vt:lpstr>
      <vt:lpstr>Apresentação do PowerPoint</vt:lpstr>
      <vt:lpstr>p-valor</vt:lpstr>
      <vt:lpstr>p-valor</vt:lpstr>
      <vt:lpstr>Apresentação do PowerPoint</vt:lpstr>
      <vt:lpstr>Apresentação do PowerPoint</vt:lpstr>
      <vt:lpstr>Exemplo</vt:lpstr>
      <vt:lpstr>Testes unilaterais</vt:lpstr>
      <vt:lpstr>Apresentação do PowerPoint</vt:lpstr>
      <vt:lpstr>Assumir que n é grande o suficiente para tratar T como tendo uma distribuição normal padrão sob a hipótese nula</vt:lpstr>
      <vt:lpstr>Intervalo de confiança</vt:lpstr>
      <vt:lpstr>Apresentação do PowerPoint</vt:lpstr>
      <vt:lpstr>Apresentação do PowerPoint</vt:lpstr>
      <vt:lpstr>Apresentação do PowerPoint</vt:lpstr>
      <vt:lpstr>Característica importante dos intervalos de confiança</vt:lpstr>
      <vt:lpstr>Apresentação do PowerPoint</vt:lpstr>
      <vt:lpstr>Apresentação do PowerPoint</vt:lpstr>
      <vt:lpstr>Teste de restrições de exclusão</vt:lpstr>
      <vt:lpstr>Apresentação do PowerPoint</vt:lpstr>
      <vt:lpstr>Apresentação do PowerPoint</vt:lpstr>
      <vt:lpstr>Apresentação do PowerPoint</vt:lpstr>
      <vt:lpstr>Apresentação do PowerPoint</vt:lpstr>
      <vt:lpstr>Relação entre as estatísticas t e F</vt:lpstr>
      <vt:lpstr>Apresentação do PowerPoint</vt:lpstr>
      <vt:lpstr>A forma R-quadrado da estatística F</vt:lpstr>
      <vt:lpstr>p-valor</vt:lpstr>
      <vt:lpstr>Exemplos</vt:lpstr>
      <vt:lpstr>Teste para a significância geral de uma regressão</vt:lpstr>
      <vt:lpstr>Apresentação do PowerPoint</vt:lpstr>
      <vt:lpstr>Exemplos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RDD</dc:title>
  <dc:creator>Patricia M. Anderson</dc:creator>
  <cp:lastModifiedBy>Fabiana Rocha</cp:lastModifiedBy>
  <cp:revision>137</cp:revision>
  <dcterms:created xsi:type="dcterms:W3CDTF">1999-10-02T17:37:41Z</dcterms:created>
  <dcterms:modified xsi:type="dcterms:W3CDTF">2026-05-19T12:56:49Z</dcterms:modified>
</cp:coreProperties>
</file>