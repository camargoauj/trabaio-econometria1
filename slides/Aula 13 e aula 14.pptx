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405" r:id="rId3"/>
    <p:sldId id="395" r:id="rId4"/>
    <p:sldId id="406" r:id="rId5"/>
    <p:sldId id="407" r:id="rId6"/>
    <p:sldId id="399" r:id="rId7"/>
    <p:sldId id="400" r:id="rId8"/>
    <p:sldId id="401" r:id="rId9"/>
    <p:sldId id="403" r:id="rId10"/>
    <p:sldId id="408" r:id="rId11"/>
    <p:sldId id="409" r:id="rId12"/>
    <p:sldId id="410" r:id="rId13"/>
    <p:sldId id="411" r:id="rId14"/>
    <p:sldId id="412" r:id="rId15"/>
    <p:sldId id="385" r:id="rId16"/>
    <p:sldId id="374" r:id="rId17"/>
    <p:sldId id="372" r:id="rId18"/>
    <p:sldId id="373" r:id="rId19"/>
    <p:sldId id="375" r:id="rId20"/>
    <p:sldId id="384" r:id="rId21"/>
    <p:sldId id="382" r:id="rId22"/>
    <p:sldId id="383" r:id="rId23"/>
    <p:sldId id="376" r:id="rId24"/>
    <p:sldId id="377" r:id="rId25"/>
    <p:sldId id="386" r:id="rId26"/>
    <p:sldId id="387" r:id="rId27"/>
    <p:sldId id="388" r:id="rId28"/>
    <p:sldId id="389" r:id="rId2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gSOnBTX3+4WX6EN1RkpxStfZzD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DAAB9E-0C75-4FD4-8C6A-6EC1CBA58109}" v="268" dt="2026-04-26T13:17:50.3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6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‹nº›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279179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lang="pt-BR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5813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lang="pt-BR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8544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fld>
            <a:endParaRPr lang="pt-BR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0161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de Título" type="title">
  <p:cSld name="TITL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9"/>
          <p:cNvSpPr txBox="1">
            <a:spLocks noGrp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9" descr="Rectangle: Click to edit Master text styles&#10;Second level&#10;Third level&#10;Fourth level&#10;Fifth level"/>
          <p:cNvSpPr txBox="1">
            <a:spLocks noGrp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520"/>
              <a:buFont typeface="Noto Sans Symbols"/>
              <a:buNone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EE517-D236-4E3E-909C-EAAF4316CC70}" type="datetimeFigureOut">
              <a:rPr lang="pt-BR" smtClean="0"/>
              <a:pPr/>
              <a:t>06/05/2026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37408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8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1" name="Google Shape;11;p28"/>
            <p:cNvGrpSpPr/>
            <p:nvPr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2" name="Google Shape;12;p28"/>
              <p:cNvSpPr txBox="1"/>
              <p:nvPr/>
            </p:nvSpPr>
            <p:spPr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400"/>
                  <a:buFont typeface="Arial"/>
                  <a:buNone/>
                </a:pPr>
                <a:endParaRPr sz="4400" b="0" i="0" u="none" strike="noStrike" cap="non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3" name="Google Shape;13;p28"/>
              <p:cNvGrpSpPr/>
              <p:nvPr/>
            </p:nvGrpSpPr>
            <p:grpSpPr>
              <a:xfrm>
                <a:off x="0" y="0"/>
                <a:ext cx="5760" cy="4320"/>
                <a:chOff x="0" y="0"/>
                <a:chExt cx="5760" cy="4320"/>
              </a:xfrm>
            </p:grpSpPr>
            <p:cxnSp>
              <p:nvCxnSpPr>
                <p:cNvPr id="14" name="Google Shape;14;p28"/>
                <p:cNvCxnSpPr/>
                <p:nvPr/>
              </p:nvCxnSpPr>
              <p:spPr>
                <a:xfrm>
                  <a:off x="0" y="19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5" name="Google Shape;15;p28"/>
                <p:cNvCxnSpPr/>
                <p:nvPr/>
              </p:nvCxnSpPr>
              <p:spPr>
                <a:xfrm>
                  <a:off x="0" y="38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6" name="Google Shape;16;p28"/>
                <p:cNvCxnSpPr/>
                <p:nvPr/>
              </p:nvCxnSpPr>
              <p:spPr>
                <a:xfrm>
                  <a:off x="0" y="57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7" name="Google Shape;17;p28"/>
                <p:cNvCxnSpPr/>
                <p:nvPr/>
              </p:nvCxnSpPr>
              <p:spPr>
                <a:xfrm>
                  <a:off x="0" y="76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8" name="Google Shape;18;p28"/>
                <p:cNvCxnSpPr/>
                <p:nvPr/>
              </p:nvCxnSpPr>
              <p:spPr>
                <a:xfrm>
                  <a:off x="0" y="96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9" name="Google Shape;19;p28"/>
                <p:cNvCxnSpPr/>
                <p:nvPr/>
              </p:nvCxnSpPr>
              <p:spPr>
                <a:xfrm>
                  <a:off x="0" y="115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0" name="Google Shape;20;p28"/>
                <p:cNvCxnSpPr/>
                <p:nvPr/>
              </p:nvCxnSpPr>
              <p:spPr>
                <a:xfrm>
                  <a:off x="0" y="134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1" name="Google Shape;21;p28"/>
                <p:cNvCxnSpPr/>
                <p:nvPr/>
              </p:nvCxnSpPr>
              <p:spPr>
                <a:xfrm>
                  <a:off x="0" y="153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2" name="Google Shape;22;p28"/>
                <p:cNvCxnSpPr/>
                <p:nvPr/>
              </p:nvCxnSpPr>
              <p:spPr>
                <a:xfrm>
                  <a:off x="0" y="172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3" name="Google Shape;23;p28"/>
                <p:cNvCxnSpPr/>
                <p:nvPr/>
              </p:nvCxnSpPr>
              <p:spPr>
                <a:xfrm>
                  <a:off x="0" y="192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4" name="Google Shape;24;p28"/>
                <p:cNvCxnSpPr/>
                <p:nvPr/>
              </p:nvCxnSpPr>
              <p:spPr>
                <a:xfrm>
                  <a:off x="0" y="211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5" name="Google Shape;25;p28"/>
                <p:cNvCxnSpPr/>
                <p:nvPr/>
              </p:nvCxnSpPr>
              <p:spPr>
                <a:xfrm>
                  <a:off x="0" y="230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6" name="Google Shape;26;p28"/>
                <p:cNvCxnSpPr/>
                <p:nvPr/>
              </p:nvCxnSpPr>
              <p:spPr>
                <a:xfrm>
                  <a:off x="0" y="249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7" name="Google Shape;27;p28"/>
                <p:cNvCxnSpPr/>
                <p:nvPr/>
              </p:nvCxnSpPr>
              <p:spPr>
                <a:xfrm>
                  <a:off x="0" y="268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8" name="Google Shape;28;p28"/>
                <p:cNvCxnSpPr/>
                <p:nvPr/>
              </p:nvCxnSpPr>
              <p:spPr>
                <a:xfrm>
                  <a:off x="0" y="288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9" name="Google Shape;29;p28"/>
                <p:cNvCxnSpPr/>
                <p:nvPr/>
              </p:nvCxnSpPr>
              <p:spPr>
                <a:xfrm>
                  <a:off x="0" y="307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0" name="Google Shape;30;p28"/>
                <p:cNvCxnSpPr/>
                <p:nvPr/>
              </p:nvCxnSpPr>
              <p:spPr>
                <a:xfrm>
                  <a:off x="0" y="326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1" name="Google Shape;31;p28"/>
                <p:cNvCxnSpPr/>
                <p:nvPr/>
              </p:nvCxnSpPr>
              <p:spPr>
                <a:xfrm>
                  <a:off x="0" y="345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2" name="Google Shape;32;p28"/>
                <p:cNvCxnSpPr/>
                <p:nvPr/>
              </p:nvCxnSpPr>
              <p:spPr>
                <a:xfrm>
                  <a:off x="0" y="364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3" name="Google Shape;33;p28"/>
                <p:cNvCxnSpPr/>
                <p:nvPr/>
              </p:nvCxnSpPr>
              <p:spPr>
                <a:xfrm>
                  <a:off x="0" y="384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4" name="Google Shape;34;p28"/>
                <p:cNvCxnSpPr/>
                <p:nvPr/>
              </p:nvCxnSpPr>
              <p:spPr>
                <a:xfrm>
                  <a:off x="0" y="403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5" name="Google Shape;35;p28"/>
                <p:cNvCxnSpPr/>
                <p:nvPr/>
              </p:nvCxnSpPr>
              <p:spPr>
                <a:xfrm>
                  <a:off x="0" y="422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6" name="Google Shape;36;p28"/>
                <p:cNvCxnSpPr/>
                <p:nvPr/>
              </p:nvCxnSpPr>
              <p:spPr>
                <a:xfrm>
                  <a:off x="1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7" name="Google Shape;37;p28"/>
                <p:cNvCxnSpPr/>
                <p:nvPr/>
              </p:nvCxnSpPr>
              <p:spPr>
                <a:xfrm>
                  <a:off x="3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8" name="Google Shape;38;p28"/>
                <p:cNvCxnSpPr/>
                <p:nvPr/>
              </p:nvCxnSpPr>
              <p:spPr>
                <a:xfrm>
                  <a:off x="5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9" name="Google Shape;39;p28"/>
                <p:cNvCxnSpPr/>
                <p:nvPr/>
              </p:nvCxnSpPr>
              <p:spPr>
                <a:xfrm>
                  <a:off x="7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0" name="Google Shape;40;p28"/>
                <p:cNvCxnSpPr/>
                <p:nvPr/>
              </p:nvCxnSpPr>
              <p:spPr>
                <a:xfrm>
                  <a:off x="96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1" name="Google Shape;41;p28"/>
                <p:cNvCxnSpPr/>
                <p:nvPr/>
              </p:nvCxnSpPr>
              <p:spPr>
                <a:xfrm>
                  <a:off x="115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2" name="Google Shape;42;p28"/>
                <p:cNvCxnSpPr/>
                <p:nvPr/>
              </p:nvCxnSpPr>
              <p:spPr>
                <a:xfrm>
                  <a:off x="134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3" name="Google Shape;43;p28"/>
                <p:cNvCxnSpPr/>
                <p:nvPr/>
              </p:nvCxnSpPr>
              <p:spPr>
                <a:xfrm>
                  <a:off x="153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4" name="Google Shape;44;p28"/>
                <p:cNvCxnSpPr/>
                <p:nvPr/>
              </p:nvCxnSpPr>
              <p:spPr>
                <a:xfrm>
                  <a:off x="172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5" name="Google Shape;45;p28"/>
                <p:cNvCxnSpPr/>
                <p:nvPr/>
              </p:nvCxnSpPr>
              <p:spPr>
                <a:xfrm>
                  <a:off x="192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6" name="Google Shape;46;p28"/>
                <p:cNvCxnSpPr/>
                <p:nvPr/>
              </p:nvCxnSpPr>
              <p:spPr>
                <a:xfrm>
                  <a:off x="211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7" name="Google Shape;47;p28"/>
                <p:cNvCxnSpPr/>
                <p:nvPr/>
              </p:nvCxnSpPr>
              <p:spPr>
                <a:xfrm>
                  <a:off x="230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8" name="Google Shape;48;p28"/>
                <p:cNvCxnSpPr/>
                <p:nvPr/>
              </p:nvCxnSpPr>
              <p:spPr>
                <a:xfrm>
                  <a:off x="249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9" name="Google Shape;49;p28"/>
                <p:cNvCxnSpPr/>
                <p:nvPr/>
              </p:nvCxnSpPr>
              <p:spPr>
                <a:xfrm>
                  <a:off x="268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0" name="Google Shape;50;p28"/>
                <p:cNvCxnSpPr/>
                <p:nvPr/>
              </p:nvCxnSpPr>
              <p:spPr>
                <a:xfrm>
                  <a:off x="288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1" name="Google Shape;51;p28"/>
                <p:cNvCxnSpPr/>
                <p:nvPr/>
              </p:nvCxnSpPr>
              <p:spPr>
                <a:xfrm>
                  <a:off x="307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2" name="Google Shape;52;p28"/>
                <p:cNvCxnSpPr/>
                <p:nvPr/>
              </p:nvCxnSpPr>
              <p:spPr>
                <a:xfrm>
                  <a:off x="326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3" name="Google Shape;53;p28"/>
                <p:cNvCxnSpPr/>
                <p:nvPr/>
              </p:nvCxnSpPr>
              <p:spPr>
                <a:xfrm>
                  <a:off x="345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4" name="Google Shape;54;p28"/>
                <p:cNvCxnSpPr/>
                <p:nvPr/>
              </p:nvCxnSpPr>
              <p:spPr>
                <a:xfrm>
                  <a:off x="364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5" name="Google Shape;55;p28"/>
                <p:cNvCxnSpPr/>
                <p:nvPr/>
              </p:nvCxnSpPr>
              <p:spPr>
                <a:xfrm>
                  <a:off x="384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6" name="Google Shape;56;p28"/>
                <p:cNvCxnSpPr/>
                <p:nvPr/>
              </p:nvCxnSpPr>
              <p:spPr>
                <a:xfrm>
                  <a:off x="403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7" name="Google Shape;57;p28"/>
                <p:cNvCxnSpPr/>
                <p:nvPr/>
              </p:nvCxnSpPr>
              <p:spPr>
                <a:xfrm>
                  <a:off x="422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8" name="Google Shape;58;p28"/>
                <p:cNvCxnSpPr/>
                <p:nvPr/>
              </p:nvCxnSpPr>
              <p:spPr>
                <a:xfrm>
                  <a:off x="441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9" name="Google Shape;59;p28"/>
                <p:cNvCxnSpPr/>
                <p:nvPr/>
              </p:nvCxnSpPr>
              <p:spPr>
                <a:xfrm>
                  <a:off x="460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60" name="Google Shape;60;p28"/>
                <p:cNvCxnSpPr/>
                <p:nvPr/>
              </p:nvCxnSpPr>
              <p:spPr>
                <a:xfrm>
                  <a:off x="480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61" name="Google Shape;61;p28"/>
                <p:cNvCxnSpPr/>
                <p:nvPr/>
              </p:nvCxnSpPr>
              <p:spPr>
                <a:xfrm>
                  <a:off x="49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62" name="Google Shape;62;p28"/>
                <p:cNvCxnSpPr/>
                <p:nvPr/>
              </p:nvCxnSpPr>
              <p:spPr>
                <a:xfrm>
                  <a:off x="51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63" name="Google Shape;63;p28"/>
                <p:cNvCxnSpPr/>
                <p:nvPr/>
              </p:nvCxnSpPr>
              <p:spPr>
                <a:xfrm>
                  <a:off x="53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64" name="Google Shape;64;p28"/>
                <p:cNvCxnSpPr/>
                <p:nvPr/>
              </p:nvCxnSpPr>
              <p:spPr>
                <a:xfrm>
                  <a:off x="55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cxnSp>
            <p:nvCxnSpPr>
              <p:cNvPr id="65" name="Google Shape;65;p28"/>
              <p:cNvCxnSpPr/>
              <p:nvPr/>
            </p:nvCxnSpPr>
            <p:spPr>
              <a:xfrm>
                <a:off x="5568" y="0"/>
                <a:ext cx="0" cy="148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66" name="Google Shape;66;p28"/>
            <p:cNvGrpSpPr/>
            <p:nvPr/>
          </p:nvGrpSpPr>
          <p:grpSpPr>
            <a:xfrm>
              <a:off x="3" y="559"/>
              <a:ext cx="4192" cy="1796"/>
              <a:chOff x="3" y="559"/>
              <a:chExt cx="4192" cy="1796"/>
            </a:xfrm>
          </p:grpSpPr>
          <p:cxnSp>
            <p:nvCxnSpPr>
              <p:cNvPr id="67" name="Google Shape;67;p28"/>
              <p:cNvCxnSpPr/>
              <p:nvPr/>
            </p:nvCxnSpPr>
            <p:spPr>
              <a:xfrm>
                <a:off x="506" y="559"/>
                <a:ext cx="0" cy="179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8" name="Google Shape;68;p28"/>
              <p:cNvCxnSpPr/>
              <p:nvPr/>
            </p:nvCxnSpPr>
            <p:spPr>
              <a:xfrm rot="10800000">
                <a:off x="3" y="1924"/>
                <a:ext cx="3211" cy="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9" name="Google Shape;69;p28"/>
              <p:cNvCxnSpPr/>
              <p:nvPr/>
            </p:nvCxnSpPr>
            <p:spPr>
              <a:xfrm rot="10800000">
                <a:off x="384" y="938"/>
                <a:ext cx="3811" cy="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70" name="Google Shape;70;p28"/>
              <p:cNvSpPr/>
              <p:nvPr/>
            </p:nvSpPr>
            <p:spPr>
              <a:xfrm rot="-5400000" flipH="1">
                <a:off x="425" y="860"/>
                <a:ext cx="156" cy="157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400"/>
                  <a:buFont typeface="Arial"/>
                  <a:buNone/>
                </a:pPr>
                <a:endParaRPr sz="4400" b="0" i="0" u="none" strike="noStrike" cap="non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71" name="Google Shape;71;p28"/>
            <p:cNvGrpSpPr/>
            <p:nvPr/>
          </p:nvGrpSpPr>
          <p:grpSpPr>
            <a:xfrm>
              <a:off x="1480" y="1952"/>
              <a:ext cx="3808" cy="1812"/>
              <a:chOff x="1480" y="1952"/>
              <a:chExt cx="3808" cy="1812"/>
            </a:xfrm>
          </p:grpSpPr>
          <p:cxnSp>
            <p:nvCxnSpPr>
              <p:cNvPr id="72" name="Google Shape;72;p28"/>
              <p:cNvCxnSpPr/>
              <p:nvPr/>
            </p:nvCxnSpPr>
            <p:spPr>
              <a:xfrm>
                <a:off x="1480" y="3442"/>
                <a:ext cx="3808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3" name="Google Shape;73;p28"/>
              <p:cNvCxnSpPr/>
              <p:nvPr/>
            </p:nvCxnSpPr>
            <p:spPr>
              <a:xfrm>
                <a:off x="5172" y="1952"/>
                <a:ext cx="0" cy="181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74" name="Google Shape;74;p28"/>
              <p:cNvSpPr/>
              <p:nvPr/>
            </p:nvSpPr>
            <p:spPr>
              <a:xfrm rot="5400000">
                <a:off x="5096" y="3346"/>
                <a:ext cx="156" cy="157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400"/>
                  <a:buFont typeface="Arial"/>
                  <a:buNone/>
                </a:pPr>
                <a:endParaRPr sz="4400" b="0" i="0" u="none" strike="noStrike" cap="non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75" name="Google Shape;75;p28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6" name="Google Shape;76;p2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52119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3520"/>
              <a:buFont typeface="Noto Sans Symbols"/>
              <a:buChar char="•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8" name="Google Shape;78;p2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2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90600" y="2351313"/>
            <a:ext cx="7772400" cy="1556657"/>
          </a:xfrm>
        </p:spPr>
        <p:txBody>
          <a:bodyPr/>
          <a:lstStyle/>
          <a:p>
            <a:pPr algn="ctr"/>
            <a:r>
              <a:rPr lang="pt-BR" sz="3600" dirty="0">
                <a:solidFill>
                  <a:srgbClr val="FF0000"/>
                </a:solidFill>
              </a:rPr>
              <a:t>Aula 13 e aula 14</a:t>
            </a:r>
            <a:r>
              <a:rPr lang="pt-BR" sz="3600" dirty="0"/>
              <a:t/>
            </a:r>
            <a:br>
              <a:rPr lang="pt-BR" sz="3600" dirty="0"/>
            </a:br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Regressão múltipla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                               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6422FC-4C54-E5AC-4BDC-E547161A8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838200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FF3EED2B-757D-EB6E-DB6B-DF80F2975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33F5544-9D11-4032-E05D-C5AE2E35B3E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11086"/>
            <a:ext cx="8229600" cy="4223657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Hoje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vamos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discutir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as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propriedades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estatísticas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do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estimador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MQO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em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regressões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múltiplas</a:t>
            </a:r>
            <a:endParaRPr lang="en-US" sz="2800" dirty="0">
              <a:solidFill>
                <a:schemeClr val="accent4">
                  <a:lumMod val="50000"/>
                </a:schemeClr>
              </a:solidFill>
            </a:endParaRPr>
          </a:p>
          <a:p>
            <a:pPr algn="just">
              <a:spcBef>
                <a:spcPts val="0"/>
              </a:spcBef>
            </a:pP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Vamos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apresentar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e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discutir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as 4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hipóteses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sob as quais o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estimador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de MQO é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não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viesado</a:t>
            </a:r>
            <a:endParaRPr lang="en-US" sz="2800" dirty="0">
              <a:solidFill>
                <a:schemeClr val="accent4">
                  <a:lumMod val="50000"/>
                </a:schemeClr>
              </a:solidFill>
            </a:endParaRPr>
          </a:p>
          <a:p>
            <a:pPr algn="just">
              <a:spcBef>
                <a:spcPts val="0"/>
              </a:spcBef>
            </a:pP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Essas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hipóteses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obviamente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são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extensões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diretas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das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hipóteses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que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vimos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no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modelo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de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regressão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simples</a:t>
            </a:r>
          </a:p>
          <a:p>
            <a:pPr algn="just">
              <a:spcBef>
                <a:spcPts val="0"/>
              </a:spcBef>
            </a:pP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Finalmente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vamos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verificar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o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que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acontece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se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omitimos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variáveis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relevantes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da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regressão</a:t>
            </a:r>
            <a:endParaRPr lang="en-US" sz="2800" dirty="0">
              <a:solidFill>
                <a:schemeClr val="accent4">
                  <a:lumMod val="50000"/>
                </a:schemeClr>
              </a:solidFill>
            </a:endParaRPr>
          </a:p>
          <a:p>
            <a:pPr algn="just"/>
            <a:endParaRPr lang="en-US" sz="240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197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7924800" cy="1143000"/>
          </a:xfrm>
        </p:spPr>
        <p:txBody>
          <a:bodyPr/>
          <a:lstStyle/>
          <a:p>
            <a:r>
              <a:rPr lang="pt-BR" sz="4000" dirty="0">
                <a:solidFill>
                  <a:schemeClr val="tx2">
                    <a:lumMod val="50000"/>
                  </a:schemeClr>
                </a:solidFill>
              </a:rPr>
              <a:t>Hipóteses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3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709057"/>
                <a:ext cx="8229600" cy="3679372"/>
              </a:xfrm>
            </p:spPr>
            <p:txBody>
              <a:bodyPr/>
              <a:lstStyle/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4">
                        <a:lumMod val="50000"/>
                      </a:schemeClr>
                    </a:solidFill>
                  </a:rPr>
                  <a:t>Hipótese RLM.1 Linearidade nos parâmetros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4">
                        <a:lumMod val="50000"/>
                      </a:schemeClr>
                    </a:solidFill>
                  </a:rPr>
                  <a:t>O modelo populacional pode ser escrito como y</a:t>
                </a:r>
                <a14:m>
                  <m:oMath xmlns:m="http://schemas.openxmlformats.org/officeDocument/2006/math">
                    <m:r>
                      <a:rPr lang="pt-BR" sz="2400" i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pt-BR" sz="2400" i="1" dirty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2400" i="1" dirty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pt-BR" sz="2400" i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pt-BR" sz="2400" i="1" dirty="0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2400" b="0" i="1" dirty="0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sz="2400" i="1" dirty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400" i="1" dirty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i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pt-BR" sz="2400" i="1" dirty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2400" i="1" dirty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pt-BR" sz="2400" i="1" dirty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400" i="1" dirty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</a:rPr>
                      <m:t>+</m:t>
                    </m:r>
                    <m:r>
                      <a:rPr lang="pt-BR" sz="2400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</a:rPr>
                      <m:t>…</m:t>
                    </m:r>
                    <m:r>
                      <a:rPr lang="pt-BR" sz="24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pt-BR" sz="24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pt-BR" sz="240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4">
                        <a:lumMod val="50000"/>
                      </a:schemeClr>
                    </a:solidFill>
                  </a:rPr>
                  <a:t>+</a:t>
                </a:r>
                <a:r>
                  <a:rPr lang="pt-BR" sz="2400" i="1" dirty="0">
                    <a:solidFill>
                      <a:schemeClr val="accent4">
                        <a:lumMod val="50000"/>
                      </a:schemeClr>
                    </a:solidFill>
                  </a:rPr>
                  <a:t>u</a:t>
                </a:r>
                <a:r>
                  <a:rPr lang="pt-BR" sz="2400" dirty="0">
                    <a:solidFill>
                      <a:schemeClr val="accent4">
                        <a:lumMod val="50000"/>
                      </a:schemeClr>
                    </a:solidFill>
                  </a:rPr>
                  <a:t> 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pt-BR" sz="24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sz="24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pt-BR" sz="24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4">
                        <a:lumMod val="50000"/>
                      </a:schemeClr>
                    </a:solidFill>
                  </a:rPr>
                  <a:t> são os parâmetros desconhecidos de interesse e </a:t>
                </a:r>
                <a:r>
                  <a:rPr lang="pt-BR" sz="2400" i="1" dirty="0">
                    <a:solidFill>
                      <a:schemeClr val="accent4">
                        <a:lumMod val="50000"/>
                      </a:schemeClr>
                    </a:solidFill>
                  </a:rPr>
                  <a:t>u</a:t>
                </a:r>
                <a:r>
                  <a:rPr lang="pt-BR" sz="2400" dirty="0">
                    <a:solidFill>
                      <a:schemeClr val="accent4">
                        <a:lumMod val="50000"/>
                      </a:schemeClr>
                    </a:solidFill>
                  </a:rPr>
                  <a:t> é o termo de erro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</a:rPr>
                      <m:t>𝑌</m:t>
                    </m:r>
                    <m:r>
                      <a:rPr lang="pt-BR" sz="24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</a:rPr>
                      <m:t>=</m:t>
                    </m:r>
                    <m:r>
                      <a:rPr lang="pt-BR" sz="24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</a:rPr>
                      <m:t>𝑋</m:t>
                    </m:r>
                    <m:r>
                      <a:rPr lang="pt-BR" sz="24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𝛽</m:t>
                    </m:r>
                    <m:r>
                      <a:rPr lang="pt-BR" sz="24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pt-BR" sz="24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𝑢</m:t>
                    </m:r>
                  </m:oMath>
                </a14:m>
                <a:r>
                  <a:rPr lang="pt-BR" sz="24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endParaRPr lang="pt-BR" sz="2400" dirty="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4">
                        <a:lumMod val="50000"/>
                      </a:schemeClr>
                    </a:solidFill>
                  </a:rPr>
                  <a:t>Hipótese RLM.2 Amostragem aleatória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4">
                        <a:lumMod val="50000"/>
                      </a:schemeClr>
                    </a:solidFill>
                  </a:rPr>
                  <a:t>Temos uma amostra aleatória de n observações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</a:rPr>
                      <m:t>{</m:t>
                    </m:r>
                    <m:d>
                      <m:dPr>
                        <m:ctrlPr>
                          <a:rPr lang="pt-BR" sz="24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𝑖</m:t>
                            </m:r>
                            <m:r>
                              <a:rPr lang="pt-BR" sz="24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pt-BR" sz="24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𝑖</m:t>
                            </m:r>
                            <m:r>
                              <a:rPr lang="pt-BR" sz="24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pt-BR" sz="24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𝑖𝑘</m:t>
                            </m:r>
                          </m:sub>
                        </m:sSub>
                        <m:r>
                          <a:rPr lang="pt-BR" sz="24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pt-BR" sz="24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</a:rPr>
                      <m:t>:</m:t>
                    </m:r>
                    <m:r>
                      <a:rPr lang="pt-BR" sz="24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</a:rPr>
                      <m:t>𝑖</m:t>
                    </m:r>
                    <m:r>
                      <a:rPr lang="pt-BR" sz="24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</a:rPr>
                      <m:t>=1,2,…,</m:t>
                    </m:r>
                    <m:r>
                      <a:rPr lang="pt-BR" sz="24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</a:rPr>
                      <m:t>𝑛</m:t>
                    </m:r>
                    <m:r>
                      <a:rPr lang="pt-BR" sz="24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pt-BR" sz="24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</a:p>
              <a:p>
                <a:pPr marL="5081" indent="0" algn="just">
                  <a:buNone/>
                </a:pPr>
                <a:endParaRPr lang="pt-BR" sz="2400" dirty="0"/>
              </a:p>
              <a:p>
                <a:pPr marL="5081" indent="0" algn="just">
                  <a:buNone/>
                </a:pPr>
                <a:endParaRPr lang="pt-BR" sz="2400" dirty="0"/>
              </a:p>
            </p:txBody>
          </p:sp>
        </mc:Choice>
        <mc:Fallback xmlns="">
          <p:sp>
            <p:nvSpPr>
              <p:cNvPr id="4" name="Espaço Reservado para Conteúdo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709057"/>
                <a:ext cx="8229600" cy="3679372"/>
              </a:xfrm>
              <a:blipFill>
                <a:blip r:embed="rId2"/>
                <a:stretch>
                  <a:fillRect l="-1111" t="-1325" r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5115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5156E3-994F-45BF-A7C4-6EBE13CE8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7924800" cy="1062024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7395802-9B37-4D71-AAAE-D6610E3CB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4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CF95B278-142E-4BAA-AF4E-BF217B4364CA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589315"/>
                <a:ext cx="8229600" cy="4191000"/>
              </a:xfrm>
            </p:spPr>
            <p:txBody>
              <a:bodyPr/>
              <a:lstStyle/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4">
                        <a:lumMod val="50000"/>
                      </a:schemeClr>
                    </a:solidFill>
                  </a:rPr>
                  <a:t>Hipótese RLM.3 Média condicional zero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4">
                        <a:lumMod val="50000"/>
                      </a:schemeClr>
                    </a:solidFill>
                  </a:rPr>
                  <a:t>O valor esperado do termo de erro </a:t>
                </a:r>
                <a:r>
                  <a:rPr lang="pt-BR" sz="2800" i="1" dirty="0">
                    <a:solidFill>
                      <a:schemeClr val="accent4">
                        <a:lumMod val="50000"/>
                      </a:schemeClr>
                    </a:solidFill>
                  </a:rPr>
                  <a:t>u</a:t>
                </a:r>
                <a:r>
                  <a:rPr lang="pt-BR" sz="2800" dirty="0">
                    <a:solidFill>
                      <a:schemeClr val="accent4">
                        <a:lumMod val="50000"/>
                      </a:schemeClr>
                    </a:solidFill>
                  </a:rPr>
                  <a:t> é zero, dados quaisquer valores das variáveis independentes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pt-BR" sz="28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𝑢</m:t>
                        </m:r>
                      </m:e>
                      <m:e>
                        <m:sSub>
                          <m:sSubPr>
                            <m:ctrlP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pt-BR" sz="28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pt-BR" sz="28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</a:rPr>
                      <m:t>=0</m:t>
                    </m:r>
                  </m:oMath>
                </a14:m>
                <a:r>
                  <a:rPr lang="pt-BR" sz="2800" dirty="0">
                    <a:solidFill>
                      <a:schemeClr val="accent4">
                        <a:lumMod val="50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pt-BR" sz="28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𝑢</m:t>
                        </m:r>
                      </m:e>
                      <m:e>
                        <m:r>
                          <a:rPr lang="pt-BR" sz="28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pt-BR" sz="28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</a:rPr>
                      <m:t>=0</m:t>
                    </m:r>
                  </m:oMath>
                </a14:m>
                <a:endParaRPr lang="pt-BR" sz="2800" dirty="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endParaRPr lang="pt-BR" sz="2800" dirty="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schemeClr val="accent4">
                        <a:lumMod val="50000"/>
                      </a:schemeClr>
                    </a:solidFill>
                  </a:rPr>
                  <a:t>Quando a Hipótese RLM.3 vale, costumamos dizer que temos variáveis explicativas exógenas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schemeClr val="accent4">
                        <a:lumMod val="50000"/>
                      </a:schemeClr>
                    </a:solidFill>
                  </a:rPr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4">
                        <a:lumMod val="50000"/>
                      </a:schemeClr>
                    </a:solidFill>
                  </a:rPr>
                  <a:t> é correlacionada com </a:t>
                </a:r>
                <a:r>
                  <a:rPr lang="pt-BR" sz="2800" i="1" dirty="0">
                    <a:solidFill>
                      <a:schemeClr val="accent4">
                        <a:lumMod val="50000"/>
                      </a:schemeClr>
                    </a:solidFill>
                  </a:rPr>
                  <a:t>u</a:t>
                </a:r>
                <a:r>
                  <a:rPr lang="pt-BR" sz="2800" dirty="0">
                    <a:solidFill>
                      <a:schemeClr val="accent4">
                        <a:lumMod val="50000"/>
                      </a:schemeClr>
                    </a:solidFill>
                  </a:rPr>
                  <a:t> por qualquer razão, dizemos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4">
                        <a:lumMod val="50000"/>
                      </a:schemeClr>
                    </a:solidFill>
                  </a:rPr>
                  <a:t> é uma variável explicativa endógena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endParaRPr lang="pt-BR" sz="2800" dirty="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algn="just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5081" indent="0" algn="just">
                  <a:buNone/>
                </a:pPr>
                <a:endParaRPr lang="pt-BR" sz="2800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CF95B278-142E-4BAA-AF4E-BF217B4364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589315"/>
                <a:ext cx="8229600" cy="4191000"/>
              </a:xfrm>
              <a:blipFill>
                <a:blip r:embed="rId2"/>
                <a:stretch>
                  <a:fillRect l="-1852" t="-1601" r="-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7883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B5A57-AA6B-418C-8784-ED755650A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71" y="304800"/>
            <a:ext cx="7826829" cy="914400"/>
          </a:xfrm>
        </p:spPr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Violações da Hipótese RLM.3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0CF08D1-5705-4999-AD15-CBD8637BE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5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41C2D7B9-9B5B-413E-A584-7EF2F5AA3670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524000"/>
                <a:ext cx="8229600" cy="4343400"/>
              </a:xfrm>
            </p:spPr>
            <p:txBody>
              <a:bodyPr/>
              <a:lstStyle/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4">
                        <a:lumMod val="50000"/>
                      </a:schemeClr>
                    </a:solidFill>
                  </a:rPr>
                  <a:t>1. Forma funcional está mal especificada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4">
                        <a:lumMod val="50000"/>
                      </a:schemeClr>
                    </a:solidFill>
                  </a:rPr>
                  <a:t>2. Omissão de um fator importante que é correlacionado com qualquer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800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sz="28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800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pt-BR" sz="28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BR" sz="2800" b="0" i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sz="2800" dirty="0">
                    <a:solidFill>
                      <a:schemeClr val="accent4">
                        <a:lumMod val="50000"/>
                      </a:schemeClr>
                    </a:solidFill>
                  </a:rPr>
                  <a:t> Mesmo em regressões múltiplas existirão alguns fatores que por causa de limitações de dados ou ignorância não serão incluídos no modelo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4">
                        <a:lumMod val="50000"/>
                      </a:schemeClr>
                    </a:solidFill>
                  </a:rPr>
                  <a:t>3. Erro de medida na variável explicativa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4">
                        <a:lumMod val="50000"/>
                      </a:schemeClr>
                    </a:solidFill>
                  </a:rPr>
                  <a:t>4. Causalidade reversa: uma (ou mais de uma) variável explicativa é determinada simultaneamente com </a:t>
                </a:r>
                <a:r>
                  <a:rPr lang="pt-BR" sz="2800" i="1" dirty="0">
                    <a:solidFill>
                      <a:schemeClr val="accent4">
                        <a:lumMod val="50000"/>
                      </a:schemeClr>
                    </a:solidFill>
                  </a:rPr>
                  <a:t>y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4">
                        <a:lumMod val="50000"/>
                      </a:schemeClr>
                    </a:solidFill>
                  </a:rPr>
                  <a:t> 3. e 4. Econometria II</a:t>
                </a: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41C2D7B9-9B5B-413E-A584-7EF2F5AA36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524000"/>
                <a:ext cx="8229600" cy="4343400"/>
              </a:xfrm>
              <a:blipFill>
                <a:blip r:embed="rId2"/>
                <a:stretch>
                  <a:fillRect l="-1481" t="-1543" r="-1481" b="-42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4509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6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62744"/>
                <a:ext cx="8229600" cy="4332513"/>
              </a:xfrm>
            </p:spPr>
            <p:txBody>
              <a:bodyPr/>
              <a:lstStyle/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dirty="0">
                    <a:solidFill>
                      <a:schemeClr val="accent4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Hipótese</a:t>
                </a:r>
                <a:r>
                  <a:rPr lang="pt-BR" i="1" dirty="0">
                    <a:solidFill>
                      <a:schemeClr val="accent4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>
                    <a:solidFill>
                      <a:schemeClr val="accent4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RLM.4 Ausência de colinearidade perfeita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dirty="0">
                    <a:solidFill>
                      <a:schemeClr val="accent4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 amostra nenhuma das variáveis independentes é constante e não há relação linear exata entre as variáveis independentes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dirty="0">
                    <a:solidFill>
                      <a:schemeClr val="accent4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matriz X tem posto k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pt-BR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pt-BR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𝑋</m:t>
                        </m:r>
                      </m:e>
                      <m:sup>
                        <m:r>
                          <a:rPr lang="pt-BR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pt-BR" dirty="0">
                    <a:solidFill>
                      <a:schemeClr val="accent4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X) é não singular e, assim,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</m:acc>
                  </m:oMath>
                </a14:m>
                <a:r>
                  <a:rPr lang="pt-BR" dirty="0">
                    <a:solidFill>
                      <a:schemeClr val="accent4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será única e poderá ser escrita como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pt-BR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𝑋</m:t>
                            </m:r>
                          </m:e>
                          <m:sup>
                            <m:r>
                              <a:rPr lang="pt-BR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pt-BR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𝑋</m:t>
                        </m:r>
                        <m:r>
                          <a:rPr lang="pt-BR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pt-BR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pt-BR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𝑋</m:t>
                        </m:r>
                      </m:e>
                      <m:sup>
                        <m:r>
                          <a:rPr lang="pt-BR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pt-BR" dirty="0">
                    <a:solidFill>
                      <a:schemeClr val="accent4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</a:p>
              <a:p>
                <a:pPr marL="5081" indent="0">
                  <a:buNone/>
                </a:pPr>
                <a:endParaRPr lang="pt-BR" dirty="0"/>
              </a:p>
              <a:p>
                <a:pPr marL="5081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4" name="Espaço Reservado para Conteúdo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62744"/>
                <a:ext cx="8229600" cy="4332513"/>
              </a:xfrm>
              <a:blipFill>
                <a:blip r:embed="rId2"/>
                <a:stretch>
                  <a:fillRect l="-1852" t="-1969" r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2926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849086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7</a:t>
            </a:fld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457200" y="1458686"/>
            <a:ext cx="8229600" cy="4430485"/>
          </a:xfrm>
        </p:spPr>
        <p:txBody>
          <a:bodyPr/>
          <a:lstStyle/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accent4">
                    <a:lumMod val="50000"/>
                  </a:schemeClr>
                </a:solidFill>
              </a:rPr>
              <a:t>Hipótese RLM.4 é muito mais complicada do que sua contrapartida para a regressão simples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accent4">
                    <a:lumMod val="50000"/>
                  </a:schemeClr>
                </a:solidFill>
              </a:rPr>
              <a:t>Se uma variável explicativa é uma combinação linear exata de outras variáveis independentes dizemos que o modelo sofre de colinearidade perfeita (</a:t>
            </a:r>
            <a:r>
              <a:rPr lang="pt-BR" sz="2800" dirty="0" err="1">
                <a:solidFill>
                  <a:schemeClr val="accent4">
                    <a:lumMod val="50000"/>
                  </a:schemeClr>
                </a:solidFill>
              </a:rPr>
              <a:t>multicolinearidade</a:t>
            </a:r>
            <a:r>
              <a:rPr lang="pt-BR" sz="2800" dirty="0">
                <a:solidFill>
                  <a:schemeClr val="accent4">
                    <a:lumMod val="50000"/>
                  </a:schemeClr>
                </a:solidFill>
              </a:rPr>
              <a:t>) e ele não pode ser estimado por MQO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accent4">
                    <a:lumMod val="50000"/>
                  </a:schemeClr>
                </a:solidFill>
              </a:rPr>
              <a:t>Hipótese RLM.4 permite que as variáveis sejam correlacionadas. Ela não permite que elas sejam perfeitamente correlacionadas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pPr marL="5081" indent="0">
              <a:buNone/>
            </a:pPr>
            <a:endParaRPr lang="pt-BR" dirty="0"/>
          </a:p>
          <a:p>
            <a:pPr marL="5081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843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98714" y="304800"/>
            <a:ext cx="7783286" cy="1143000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8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926771"/>
                <a:ext cx="8229600" cy="3526972"/>
              </a:xfrm>
            </p:spPr>
            <p:txBody>
              <a:bodyPr/>
              <a:lstStyle/>
              <a:p>
                <a:pPr marL="5081" indent="0" algn="just">
                  <a:buNone/>
                </a:pPr>
                <a:r>
                  <a:rPr lang="pt-BR" sz="2800" dirty="0">
                    <a:solidFill>
                      <a:schemeClr val="accent4">
                        <a:lumMod val="50000"/>
                      </a:schemeClr>
                    </a:solidFill>
                  </a:rPr>
                  <a:t>Teorema 1 Ausência de viés</a:t>
                </a:r>
              </a:p>
              <a:p>
                <a:pPr marL="5081" indent="0" algn="just">
                  <a:buNone/>
                </a:pPr>
                <a:r>
                  <a:rPr lang="pt-BR" sz="2800" dirty="0">
                    <a:solidFill>
                      <a:schemeClr val="accent4">
                        <a:lumMod val="50000"/>
                      </a:schemeClr>
                    </a:solidFill>
                  </a:rPr>
                  <a:t>Sob as hipóteses RLM.1 a RLM.4 </a:t>
                </a:r>
              </a:p>
              <a:p>
                <a:pPr marL="508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pt-BR" sz="28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800" b="0" i="1" smtClean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BR" sz="2800" b="0" i="1" smtClean="0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800" b="0" i="1" smtClean="0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BR" sz="2800" b="0" i="1" smtClean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pt-BR" sz="28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pt-BR" sz="28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𝛽</m:t>
                          </m:r>
                        </m:e>
                        <m:sub>
                          <m:r>
                            <a:rPr lang="pt-BR" sz="28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pt-BR" sz="28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/>
                        </a:rPr>
                        <m:t>, </m:t>
                      </m:r>
                      <m:r>
                        <a:rPr lang="pt-BR" sz="28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/>
                        </a:rPr>
                        <m:t>𝑗</m:t>
                      </m:r>
                      <m:r>
                        <a:rPr lang="pt-BR" sz="28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/>
                        </a:rPr>
                        <m:t>=0,1,…,</m:t>
                      </m:r>
                      <m:r>
                        <a:rPr lang="pt-BR" sz="28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/>
                        </a:rPr>
                        <m:t>𝑘</m:t>
                      </m:r>
                    </m:oMath>
                  </m:oMathPara>
                </a14:m>
                <a:endParaRPr lang="pt-BR" sz="2800" dirty="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marL="5081" indent="0" algn="just">
                  <a:buNone/>
                </a:pPr>
                <a:r>
                  <a:rPr lang="pt-BR" sz="2800" dirty="0">
                    <a:solidFill>
                      <a:schemeClr val="accent4">
                        <a:lumMod val="50000"/>
                      </a:schemeClr>
                    </a:solidFill>
                  </a:rPr>
                  <a:t>para quaisquer valores do parâmetro populacional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endParaRPr lang="pt-BR" sz="2800" dirty="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4">
                        <a:lumMod val="50000"/>
                      </a:schemeClr>
                    </a:solidFill>
                  </a:rPr>
                  <a:t>Os estimadores MQO são estimadores não viesados dos parâmetros populacionais </a:t>
                </a:r>
              </a:p>
            </p:txBody>
          </p:sp>
        </mc:Choice>
        <mc:Fallback xmlns="">
          <p:sp>
            <p:nvSpPr>
              <p:cNvPr id="6" name="Espaço Reservado para Conteúdo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926771"/>
                <a:ext cx="8229600" cy="3526972"/>
              </a:xfrm>
              <a:blipFill>
                <a:blip r:embed="rId2"/>
                <a:stretch>
                  <a:fillRect l="-1481" r="-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4171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O que acontece se a hipótese RLM.3 é violada?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9</a:t>
            </a:fld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457200" y="1719942"/>
            <a:ext cx="8229600" cy="386442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4">
                    <a:lumMod val="50000"/>
                  </a:schemeClr>
                </a:solidFill>
              </a:rPr>
              <a:t>Omissão de variáveis (no quadro)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721" y="2656114"/>
            <a:ext cx="6072995" cy="25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466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88549A-E45D-24D6-50C6-9DEDFE2F7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799"/>
            <a:ext cx="8155858" cy="963561"/>
          </a:xfrm>
        </p:spPr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Saindo do exemplo da regressão de salário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1984F3B-5E40-401C-5C09-E24234401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10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D0E501F-9AA8-EE6E-49D4-C3E74B37379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700982"/>
            <a:ext cx="8229600" cy="4455978"/>
          </a:xfrm>
        </p:spPr>
        <p:txBody>
          <a:bodyPr/>
          <a:lstStyle/>
          <a:p>
            <a:pPr algn="just" fontAlgn="base">
              <a:spcBef>
                <a:spcPts val="0"/>
              </a:spcBef>
            </a:pP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Supor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que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queremos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estudar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o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efeito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que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a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metragem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tem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sobre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o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preço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das casas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usando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um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modelo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de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regressão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linear simples:</a:t>
            </a:r>
          </a:p>
          <a:p>
            <a:pPr marL="5081" indent="0" algn="just" fontAlgn="base">
              <a:spcBef>
                <a:spcPts val="0"/>
              </a:spcBef>
              <a:buNone/>
            </a:pP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House price = B</a:t>
            </a:r>
            <a:r>
              <a:rPr lang="en-US" sz="2800" baseline="-25000" dirty="0">
                <a:solidFill>
                  <a:schemeClr val="accent4">
                    <a:lumMod val="50000"/>
                  </a:schemeClr>
                </a:solidFill>
              </a:rPr>
              <a:t>0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 + B</a:t>
            </a:r>
            <a:r>
              <a:rPr lang="en-US" sz="2800" baseline="-25000" dirty="0">
                <a:solidFill>
                  <a:schemeClr val="accent4">
                    <a:lumMod val="50000"/>
                  </a:schemeClr>
                </a:solidFill>
              </a:rPr>
              <a:t>1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(square footage)</a:t>
            </a:r>
          </a:p>
          <a:p>
            <a:pPr algn="just" fontAlgn="base">
              <a:spcBef>
                <a:spcPts val="0"/>
              </a:spcBef>
            </a:pP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Supor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que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o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modelo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estimado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seja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:</a:t>
            </a:r>
          </a:p>
          <a:p>
            <a:pPr marL="5081" indent="0" algn="just" fontAlgn="base">
              <a:spcBef>
                <a:spcPts val="0"/>
              </a:spcBef>
              <a:buNone/>
            </a:pPr>
            <a:r>
              <a:rPr lang="en-US" sz="2800" b="1" dirty="0" err="1">
                <a:solidFill>
                  <a:schemeClr val="accent4">
                    <a:lumMod val="50000"/>
                  </a:schemeClr>
                </a:solidFill>
              </a:rPr>
              <a:t>Preço</a:t>
            </a: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</a:rPr>
              <a:t> da casa =  40,203.91 + 118.31(</a:t>
            </a:r>
            <a:r>
              <a:rPr lang="en-US" sz="2800" b="1" dirty="0" err="1">
                <a:solidFill>
                  <a:schemeClr val="accent4">
                    <a:lumMod val="50000"/>
                  </a:schemeClr>
                </a:solidFill>
              </a:rPr>
              <a:t>metragem</a:t>
            </a: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en-US" sz="2800" dirty="0">
              <a:solidFill>
                <a:schemeClr val="accent4">
                  <a:lumMod val="50000"/>
                </a:schemeClr>
              </a:solidFill>
            </a:endParaRPr>
          </a:p>
          <a:p>
            <a:pPr algn="just" fontAlgn="base">
              <a:spcBef>
                <a:spcPts val="0"/>
              </a:spcBef>
            </a:pP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Interpretação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: o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aumento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em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uma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unidade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na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metragem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da casa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está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associado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em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 smtClean="0">
                <a:solidFill>
                  <a:schemeClr val="accent4">
                    <a:lumMod val="50000"/>
                  </a:schemeClr>
                </a:solidFill>
              </a:rPr>
              <a:t>média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, a um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aumento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no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preço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da casa de $118,31</a:t>
            </a:r>
          </a:p>
          <a:p>
            <a:pPr marL="5081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07100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301002-B1E6-EEE8-5E9F-C63AC7305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934065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36EA01E5-484C-6AE0-B2F4-692C558D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11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3F3D5CB-29AE-A9D0-7820-FC0A92CB117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775533"/>
            <a:ext cx="8229600" cy="2938510"/>
          </a:xfrm>
        </p:spPr>
        <p:txBody>
          <a:bodyPr/>
          <a:lstStyle/>
          <a:p>
            <a:pPr algn="just"/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Estamos 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</a:rPr>
              <a:t>deixando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 de fora da 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</a:rPr>
              <a:t>regressão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</a:rPr>
              <a:t>várias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</a:rPr>
              <a:t>variáveis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</a:rPr>
              <a:t>sendo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</a:rPr>
              <a:t>uma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 delas a 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</a:rPr>
              <a:t>idade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 do 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</a:rPr>
              <a:t>imóvel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 (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</a:rPr>
              <a:t>idade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). Ela é 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</a:rPr>
              <a:t>negativamente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</a:rPr>
              <a:t>correlacionada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 com a 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</a:rPr>
              <a:t>metragem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 e 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</a:rPr>
              <a:t>negativamente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</a:rPr>
              <a:t>correlacionada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 com o 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</a:rPr>
              <a:t>preço</a:t>
            </a:r>
            <a:endParaRPr lang="en-US" sz="2400" dirty="0">
              <a:solidFill>
                <a:schemeClr val="accent4">
                  <a:lumMod val="50000"/>
                </a:schemeClr>
              </a:solidFill>
            </a:endParaRPr>
          </a:p>
          <a:p>
            <a:pPr algn="just"/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A 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</a:rPr>
              <a:t>idade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</a:rPr>
              <a:t>deveria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</a:rPr>
              <a:t>estar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 no 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</a:rPr>
              <a:t>modelo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, mas 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</a:rPr>
              <a:t>como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</a:rPr>
              <a:t>não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</a:rPr>
              <a:t>está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 o 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</a:rPr>
              <a:t>coeficiente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</a:rPr>
              <a:t>estimado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 de 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</a:rPr>
              <a:t>metragem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</a:rPr>
              <a:t>provavelmente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 é </a:t>
            </a:r>
            <a:r>
              <a:rPr lang="en-US" sz="2400" dirty="0" err="1" smtClean="0">
                <a:solidFill>
                  <a:schemeClr val="accent4">
                    <a:lumMod val="50000"/>
                  </a:schemeClr>
                </a:solidFill>
              </a:rPr>
              <a:t>viesado</a:t>
            </a:r>
            <a:endParaRPr lang="en-US" sz="2400" dirty="0" smtClean="0">
              <a:solidFill>
                <a:schemeClr val="accent4">
                  <a:lumMod val="50000"/>
                </a:schemeClr>
              </a:solidFill>
            </a:endParaRPr>
          </a:p>
          <a:p>
            <a:pPr algn="just"/>
            <a:r>
              <a:rPr lang="en-US" sz="2400" dirty="0" err="1" smtClean="0">
                <a:solidFill>
                  <a:schemeClr val="accent4">
                    <a:lumMod val="50000"/>
                  </a:schemeClr>
                </a:solidFill>
              </a:rPr>
              <a:t>Viés</a:t>
            </a:r>
            <a:r>
              <a:rPr lang="en-US" sz="2400" dirty="0" smtClean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400" dirty="0" err="1" smtClean="0">
                <a:solidFill>
                  <a:schemeClr val="accent4">
                    <a:lumMod val="50000"/>
                  </a:schemeClr>
                </a:solidFill>
              </a:rPr>
              <a:t>positivo</a:t>
            </a:r>
            <a:endParaRPr lang="en-US" sz="2400" dirty="0" smtClean="0">
              <a:solidFill>
                <a:schemeClr val="accent4">
                  <a:lumMod val="50000"/>
                </a:schemeClr>
              </a:solidFill>
            </a:endParaRPr>
          </a:p>
          <a:p>
            <a:pPr algn="just"/>
            <a:endParaRPr lang="en-US" sz="1800" dirty="0">
              <a:solidFill>
                <a:schemeClr val="accent4">
                  <a:lumMod val="50000"/>
                </a:schemeClr>
              </a:solidFill>
            </a:endParaRPr>
          </a:p>
          <a:p>
            <a:pPr algn="just"/>
            <a:endParaRPr lang="pt-BR" sz="180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4444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502303-3F0C-AB27-CE57-5FCBFF9B9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698090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F7EB1AED-7058-9188-06B8-EF9A852C2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12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B739EAF-67B0-4400-B03C-0961B99A81F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455174"/>
            <a:ext cx="8229600" cy="4139381"/>
          </a:xfrm>
        </p:spPr>
        <p:txBody>
          <a:bodyPr/>
          <a:lstStyle/>
          <a:p>
            <a:pPr marL="5081" indent="0" algn="just" fontAlgn="base">
              <a:spcBef>
                <a:spcPts val="0"/>
              </a:spcBef>
              <a:buNone/>
            </a:pP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Supor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que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o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modelo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estimado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é:</a:t>
            </a:r>
          </a:p>
          <a:p>
            <a:pPr marL="5081" indent="0" algn="just" fontAlgn="base">
              <a:spcBef>
                <a:spcPts val="0"/>
              </a:spcBef>
              <a:buNone/>
            </a:pPr>
            <a:r>
              <a:rPr lang="en-US" sz="2800" b="1" dirty="0" err="1">
                <a:solidFill>
                  <a:schemeClr val="accent4">
                    <a:lumMod val="50000"/>
                  </a:schemeClr>
                </a:solidFill>
              </a:rPr>
              <a:t>Preço</a:t>
            </a: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</a:rPr>
              <a:t> da casa =  123,426.20 + 81.06(</a:t>
            </a:r>
            <a:r>
              <a:rPr lang="en-US" sz="2800" b="1" dirty="0" err="1">
                <a:solidFill>
                  <a:schemeClr val="accent4">
                    <a:lumMod val="50000"/>
                  </a:schemeClr>
                </a:solidFill>
              </a:rPr>
              <a:t>metragem</a:t>
            </a: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</a:rPr>
              <a:t>) – 1,291.04(</a:t>
            </a:r>
            <a:r>
              <a:rPr lang="en-US" sz="2800" b="1" dirty="0" err="1">
                <a:solidFill>
                  <a:schemeClr val="accent4">
                    <a:lumMod val="50000"/>
                  </a:schemeClr>
                </a:solidFill>
              </a:rPr>
              <a:t>idade</a:t>
            </a: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</a:rPr>
              <a:t>)</a:t>
            </a:r>
          </a:p>
          <a:p>
            <a:pPr algn="just"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O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aumento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em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1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unidade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na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metragem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da casa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está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associado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com um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aumento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no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preço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da casa de $81,06,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mantida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a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idade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constante</a:t>
            </a:r>
            <a:endParaRPr lang="en-US" sz="2800" dirty="0">
              <a:solidFill>
                <a:schemeClr val="accent4">
                  <a:lumMod val="50000"/>
                </a:schemeClr>
              </a:solidFill>
            </a:endParaRPr>
          </a:p>
          <a:p>
            <a:pPr algn="just"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O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coeficiente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de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metragem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diminuiu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significativamente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, o que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significa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que </a:t>
            </a:r>
            <a:r>
              <a:rPr lang="en-US" sz="2800" dirty="0" err="1" smtClean="0">
                <a:solidFill>
                  <a:schemeClr val="accent4">
                    <a:lumMod val="50000"/>
                  </a:schemeClr>
                </a:solidFill>
              </a:rPr>
              <a:t>ele</a:t>
            </a:r>
            <a:r>
              <a:rPr lang="en-US" sz="2800" dirty="0" smtClean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estava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positivamente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viesado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no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modelo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inicial</a:t>
            </a:r>
            <a:endParaRPr lang="en-US" sz="2800" dirty="0">
              <a:solidFill>
                <a:schemeClr val="accent4">
                  <a:lumMod val="50000"/>
                </a:schemeClr>
              </a:solidFill>
            </a:endParaRPr>
          </a:p>
          <a:p>
            <a:pPr marL="5081" indent="0" algn="just" fontAlgn="base">
              <a:spcBef>
                <a:spcPts val="0"/>
              </a:spcBef>
              <a:buNone/>
            </a:pPr>
            <a:endParaRPr lang="en-US" sz="2800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2255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802B16-0C34-44C5-5F02-F1F28BFB9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002890"/>
          </a:xfrm>
        </p:spPr>
        <p:txBody>
          <a:bodyPr/>
          <a:lstStyle/>
          <a:p>
            <a:r>
              <a:rPr lang="pt-BR" sz="3600" dirty="0" smtClean="0">
                <a:solidFill>
                  <a:schemeClr val="tx2">
                    <a:lumMod val="50000"/>
                  </a:schemeClr>
                </a:solidFill>
              </a:rPr>
              <a:t>Variáveis não observadas</a:t>
            </a:r>
            <a:endParaRPr lang="pt-BR" sz="3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DE01892-AA40-1663-783D-50E7A2EB1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13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206B2F2-889A-44BB-77AC-68C05F68C55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553498"/>
            <a:ext cx="8229600" cy="4603462"/>
          </a:xfrm>
        </p:spPr>
        <p:txBody>
          <a:bodyPr/>
          <a:lstStyle/>
          <a:p>
            <a:pPr algn="just" fontAlgn="base">
              <a:spcBef>
                <a:spcPts val="0"/>
              </a:spcBef>
            </a:pP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O</a:t>
            </a:r>
            <a:r>
              <a:rPr lang="en-US" sz="2800" dirty="0" smtClean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viés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de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variável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omitida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ocorre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frequentemente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no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mundo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real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porque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geralmente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algumas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variáveis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que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deveriam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ser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incluídas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num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modelo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de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regressão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não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são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porque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não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 smtClean="0">
                <a:solidFill>
                  <a:schemeClr val="accent4">
                    <a:lumMod val="50000"/>
                  </a:schemeClr>
                </a:solidFill>
              </a:rPr>
              <a:t>existem</a:t>
            </a:r>
            <a:r>
              <a:rPr lang="en-US" sz="2800" dirty="0" smtClean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 smtClean="0">
                <a:solidFill>
                  <a:schemeClr val="accent4">
                    <a:lumMod val="50000"/>
                  </a:schemeClr>
                </a:solidFill>
              </a:rPr>
              <a:t>informações</a:t>
            </a:r>
            <a:r>
              <a:rPr lang="en-US" sz="2800" dirty="0" smtClean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disponíveis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para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elas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</a:p>
          <a:p>
            <a:pPr algn="just" fontAlgn="base">
              <a:spcBef>
                <a:spcPts val="0"/>
              </a:spcBef>
            </a:pP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Se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possível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deveríamos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tentar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incluir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todas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as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variáveis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explicativas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relevantes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num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modelo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de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regressão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para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que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pudéssemos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entender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a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relação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verdadeira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entre as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variáveis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explicativas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e a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variável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dependente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(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variável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 de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</a:rPr>
              <a:t>resultado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676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8B549-E9A5-F7B1-0112-4C2D467EA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7924800" cy="855406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B14F9E79-C3C0-A628-5CBD-DFE11A941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14</a:t>
            </a:fld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1BAACE92-B6C4-8449-B506-19505A31660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88026"/>
                <a:ext cx="8229600" cy="4473582"/>
              </a:xfrm>
            </p:spPr>
            <p:txBody>
              <a:bodyPr/>
              <a:lstStyle/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Considere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accent4">
                        <a:lumMod val="50000"/>
                      </a:schemeClr>
                    </a:solidFill>
                  </a:rPr>
                  <a:t>um </a:t>
                </a:r>
                <a:r>
                  <a:rPr lang="en-US" sz="2000" dirty="0" err="1" smtClean="0">
                    <a:solidFill>
                      <a:schemeClr val="accent4">
                        <a:lumMod val="50000"/>
                      </a:schemeClr>
                    </a:solidFill>
                  </a:rPr>
                  <a:t>modelo</a:t>
                </a:r>
                <a:r>
                  <a:rPr lang="en-US" sz="2000" dirty="0" smtClean="0">
                    <a:solidFill>
                      <a:schemeClr val="accent4">
                        <a:lumMod val="50000"/>
                      </a:schemeClr>
                    </a:solidFill>
                  </a:rPr>
                  <a:t> de </a:t>
                </a:r>
                <a:r>
                  <a:rPr lang="en-US" sz="2000" dirty="0" err="1" smtClean="0">
                    <a:solidFill>
                      <a:schemeClr val="accent4">
                        <a:lumMod val="50000"/>
                      </a:schemeClr>
                    </a:solidFill>
                  </a:rPr>
                  <a:t>regressão</a:t>
                </a:r>
                <a:r>
                  <a:rPr lang="en-US" sz="2000" dirty="0" smtClean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simples para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explicar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as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taxas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de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criminalidade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a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nível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municipal: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endParaRPr lang="en-US" sz="2000" dirty="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𝑡𝑎𝑥𝑎</m:t>
                      </m:r>
                      <m:r>
                        <a:rPr lang="pt-BR" sz="20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0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pt-BR" sz="20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0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𝑐𝑟𝑖𝑚𝑖𝑛𝑎𝑙𝑖𝑑𝑎𝑑𝑒</m:t>
                      </m:r>
                      <m:r>
                        <a:rPr lang="pt-BR" sz="20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pt-BR" sz="20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20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0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0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20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0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𝑑𝑒𝑠𝑒𝑚𝑝𝑟𝑒𝑔𝑜</m:t>
                      </m:r>
                      <m:r>
                        <a:rPr lang="pt-BR" sz="20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2000" dirty="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endParaRPr lang="en-US" sz="2000" dirty="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Essa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regressão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simples,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como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já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foi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enfatizado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várias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vezes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,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provavelmente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sofre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do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problema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de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viés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de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variável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omitida</a:t>
                </a:r>
                <a:endParaRPr lang="en-US" sz="2000" dirty="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endParaRPr lang="en-US" sz="2000" dirty="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Uma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solução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possível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: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tentar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controlar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por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mais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fatores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, tais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como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distribuição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etária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e de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gênero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,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níveis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educacionais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,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etc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…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numa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regressão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múltipla</a:t>
                </a:r>
                <a:endParaRPr lang="en-US" sz="2000" dirty="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endParaRPr lang="en-US" sz="2000" dirty="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Problema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: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não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é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possível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controlar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por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alguns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fatores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como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esforços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para o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cumprimento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das leis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em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cada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 smtClean="0">
                    <a:solidFill>
                      <a:schemeClr val="accent4">
                        <a:lumMod val="50000"/>
                      </a:schemeClr>
                    </a:solidFill>
                  </a:rPr>
                  <a:t>município</a:t>
                </a:r>
                <a:r>
                  <a:rPr lang="en-US" sz="2000" dirty="0" smtClean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ou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as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diferentes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atitudes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com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relação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ao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crime das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pessoas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que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vivem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nos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4">
                        <a:lumMod val="50000"/>
                      </a:schemeClr>
                    </a:solidFill>
                  </a:rPr>
                  <a:t>municípios</a:t>
                </a:r>
                <a:endParaRPr lang="en-US" sz="2000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1BAACE92-B6C4-8449-B506-19505A3166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88026"/>
                <a:ext cx="8229600" cy="4473582"/>
              </a:xfrm>
              <a:blipFill>
                <a:blip r:embed="rId2"/>
                <a:stretch>
                  <a:fillRect l="-741" t="-681" r="-7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5995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E84695-5E08-499C-A229-1A898C87C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dirty="0">
                <a:solidFill>
                  <a:schemeClr val="tx2">
                    <a:lumMod val="50000"/>
                  </a:schemeClr>
                </a:solidFill>
              </a:rPr>
              <a:t>Variâncias dos estimadores de MQO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889915C-BF06-4168-ACE7-79BC04ED9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15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98318F49-4609-46C8-92FF-F70136111C5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887793"/>
                <a:ext cx="8229600" cy="4031225"/>
              </a:xfrm>
            </p:spPr>
            <p:txBody>
              <a:bodyPr/>
              <a:lstStyle/>
              <a:p>
                <a:pPr marL="5081" indent="0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Hipótese RLM.5 Homoscedasticidade</a:t>
                </a:r>
              </a:p>
              <a:p>
                <a:pPr marL="5081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e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/>
                      </a:rPr>
                      <m:t>𝑉𝑎𝑟</m:t>
                    </m:r>
                    <m:d>
                      <m:d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𝑢</m:t>
                        </m:r>
                      </m:e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p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pt-BR" sz="24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Na equação </a:t>
                </a:r>
              </a:p>
              <a:p>
                <a:pPr marL="5081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𝑠𝑎𝑙</m:t>
                      </m:r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á</m:t>
                      </m:r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𝑟𝑖𝑜h</m:t>
                      </m:r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𝑒𝑑𝑢𝑐</m:t>
                      </m:r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𝑒𝑥𝑝𝑒𝑟</m:t>
                      </m:r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𝑝𝑒𝑟𝑚</m:t>
                      </m:r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pt-BR" sz="24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a homoscedasticidade requer que a variância do erro </a:t>
                </a:r>
                <a:r>
                  <a:rPr lang="pt-BR" sz="2400" i="1" dirty="0">
                    <a:solidFill>
                      <a:schemeClr val="accent5">
                        <a:lumMod val="10000"/>
                      </a:schemeClr>
                    </a:solidFill>
                  </a:rPr>
                  <a:t>u</a:t>
                </a: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não dependa dos níveis de educação, experiência ou tempo no emprego, ou seja,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𝑒𝑑𝑢𝑐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𝑒𝑥𝑝𝑒𝑟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𝑝𝑒𝑟𝑚</m:t>
                        </m:r>
                      </m:e>
                    </m:d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pt-BR" sz="24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Se a variância varia com qualquer uma das três variáveis explicativas, então a heterocedasticidade está presente</a:t>
                </a: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98318F49-4609-46C8-92FF-F70136111C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887793"/>
                <a:ext cx="8229600" cy="4031225"/>
              </a:xfrm>
              <a:blipFill>
                <a:blip r:embed="rId3"/>
                <a:stretch>
                  <a:fillRect l="-1852" t="-1210" r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9141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786581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16</a:t>
            </a:fld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ço Reservado para Conteúdo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455174"/>
                <a:ext cx="8229600" cy="4277032"/>
              </a:xfrm>
            </p:spPr>
            <p:txBody>
              <a:bodyPr/>
              <a:lstStyle/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1800" dirty="0" smtClean="0">
                    <a:solidFill>
                      <a:schemeClr val="accent5">
                        <a:lumMod val="10000"/>
                      </a:schemeClr>
                    </a:solidFill>
                  </a:rPr>
                  <a:t>Sob as hipóteses RLM.1 a RLM.5,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pt-BR" sz="1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/>
                      </a:rPr>
                      <m:t>𝑉𝑎𝑟</m:t>
                    </m:r>
                    <m:d>
                      <m:dPr>
                        <m:ctrlPr>
                          <a:rPr lang="pt-BR" sz="1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pt-BR" sz="18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18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</m:acc>
                      </m:e>
                    </m:d>
                    <m:r>
                      <a:rPr lang="pt-BR" sz="1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pt-BR" sz="1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p>
                        <m:r>
                          <a:rPr lang="pt-BR" sz="1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pt-BR" sz="1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pt-BR" sz="18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18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𝑋</m:t>
                            </m:r>
                          </m:e>
                          <m:sup>
                            <m:r>
                              <a:rPr lang="pt-BR" sz="18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pt-BR" sz="1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𝑋</m:t>
                        </m:r>
                        <m:r>
                          <a:rPr lang="pt-BR" sz="1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pt-BR" sz="1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pt-BR" sz="1800" dirty="0">
                    <a:solidFill>
                      <a:schemeClr val="accent5">
                        <a:lumMod val="10000"/>
                      </a:schemeClr>
                    </a:solidFill>
                  </a:rPr>
                  <a:t>     (1) (no quadro)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1800" dirty="0">
                    <a:solidFill>
                      <a:schemeClr val="accent5">
                        <a:lumMod val="10000"/>
                      </a:schemeClr>
                    </a:solidFill>
                  </a:rPr>
                  <a:t>Teorema 2 Sob as hipóteses RLM.1 a RLM.5 , condicionais aos valores amostrais das variáveis independentes,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pt-BR" sz="1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pt-BR" sz="1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18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sz="18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18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pt-BR" sz="18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pt-BR" sz="1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1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18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18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pt-BR" sz="18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pt-BR" sz="18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8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𝑆𝑄𝑇</m:t>
                            </m:r>
                          </m:e>
                          <m:sub>
                            <m:r>
                              <a:rPr lang="pt-BR" sz="18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pt-BR" sz="1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sSubSup>
                          <m:sSubSupPr>
                            <m:ctrlPr>
                              <a:rPr lang="pt-BR" sz="18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sz="18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sz="18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pt-BR" sz="18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pt-BR" sz="1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pt-BR" sz="1800" dirty="0">
                    <a:solidFill>
                      <a:schemeClr val="accent5">
                        <a:lumMod val="10000"/>
                      </a:schemeClr>
                    </a:solidFill>
                  </a:rPr>
                  <a:t>     (2)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1800" dirty="0">
                    <a:solidFill>
                      <a:schemeClr val="accent5">
                        <a:lumMod val="10000"/>
                      </a:schemeClr>
                    </a:solidFill>
                  </a:rPr>
                  <a:t>para </a:t>
                </a:r>
                <a14:m>
                  <m:oMath xmlns:m="http://schemas.openxmlformats.org/officeDocument/2006/math">
                    <m:r>
                      <a:rPr lang="pt-BR" sz="1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pt-BR" sz="1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pt-BR" sz="1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sz="1800" dirty="0">
                    <a:solidFill>
                      <a:schemeClr val="accent5">
                        <a:lumMod val="10000"/>
                      </a:schemeClr>
                    </a:solidFill>
                  </a:rPr>
                  <a:t> em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𝑆𝑄𝑇</m:t>
                        </m:r>
                      </m:e>
                      <m:sub>
                        <m:r>
                          <a:rPr lang="pt-BR" sz="1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sz="1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sz="1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1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1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sz="1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pt-BR" sz="18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18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pt-BR" sz="18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8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18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pt-BR" sz="18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pt-BR" sz="18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pt-BR" sz="1800" b="0" i="1" smtClean="0">
                                        <a:solidFill>
                                          <a:schemeClr val="accent5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smtClean="0">
                                        <a:solidFill>
                                          <a:schemeClr val="accent5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1800" b="0" i="1" smtClean="0">
                                        <a:solidFill>
                                          <a:schemeClr val="accent5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pt-BR" sz="18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pt-BR" sz="18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pt-BR" sz="1800" dirty="0">
                    <a:solidFill>
                      <a:schemeClr val="accent5">
                        <a:lumMod val="10000"/>
                      </a:schemeClr>
                    </a:solidFill>
                  </a:rPr>
                  <a:t> é a variação total 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1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1800" dirty="0">
                    <a:solidFill>
                      <a:schemeClr val="accent5">
                        <a:lumMod val="10000"/>
                      </a:schemeClr>
                    </a:solidFill>
                  </a:rPr>
                  <a:t> 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1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1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pt-BR" sz="1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sz="1800" dirty="0">
                    <a:solidFill>
                      <a:schemeClr val="accent5">
                        <a:lumMod val="10000"/>
                      </a:schemeClr>
                    </a:solidFill>
                  </a:rPr>
                  <a:t> é o R-quadrado da regressão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1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1800" dirty="0">
                    <a:solidFill>
                      <a:schemeClr val="accent5">
                        <a:lumMod val="10000"/>
                      </a:schemeClr>
                    </a:solidFill>
                  </a:rPr>
                  <a:t> em todas as variáveis independentes e um intercepto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1800" dirty="0">
                    <a:solidFill>
                      <a:schemeClr val="accent5">
                        <a:lumMod val="10000"/>
                      </a:schemeClr>
                    </a:solidFill>
                  </a:rPr>
                  <a:t>Teorema 2 fornece uma fórmula útil para a variância de um único parâmetro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1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1800" dirty="0">
                    <a:solidFill>
                      <a:schemeClr val="accent5">
                        <a:lumMod val="10000"/>
                      </a:schemeClr>
                    </a:solidFill>
                  </a:rPr>
                  <a:t>, ou seja, para um único elemento da diagonal principal da matriz de variância-covariância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1800" dirty="0">
                    <a:solidFill>
                      <a:schemeClr val="accent5">
                        <a:lumMod val="10000"/>
                      </a:schemeClr>
                    </a:solidFill>
                  </a:rPr>
                  <a:t>Não é diretamente óbvio que a fórmula (2) conduz aos mesmos resultados da fórmula matricial (1</a:t>
                </a:r>
                <a:r>
                  <a:rPr lang="pt-BR" sz="1800" dirty="0" smtClean="0">
                    <a:solidFill>
                      <a:schemeClr val="accent5">
                        <a:lumMod val="10000"/>
                      </a:schemeClr>
                    </a:solidFill>
                  </a:rPr>
                  <a:t>)</a:t>
                </a:r>
                <a:endParaRPr lang="pt-BR" sz="1800" dirty="0"/>
              </a:p>
              <a:p>
                <a:pPr marL="5081" indent="0" algn="just">
                  <a:buNone/>
                </a:pPr>
                <a:endParaRPr lang="pt-BR" sz="2400" dirty="0"/>
              </a:p>
            </p:txBody>
          </p:sp>
        </mc:Choice>
        <mc:Fallback>
          <p:sp>
            <p:nvSpPr>
              <p:cNvPr id="4" name="Espaço Reservado para Conteúdo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455174"/>
                <a:ext cx="8229600" cy="4277032"/>
              </a:xfrm>
              <a:blipFill>
                <a:blip r:embed="rId3"/>
                <a:stretch>
                  <a:fillRect l="-1852" t="-856" r="-5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5693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0FAB5A57-AA6B-418C-8784-ED755650A39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sz="3600" dirty="0">
                    <a:solidFill>
                      <a:schemeClr val="tx2">
                        <a:lumMod val="50000"/>
                      </a:schemeClr>
                    </a:solidFill>
                  </a:rPr>
                  <a:t>Variância do erro,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360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60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3600" b="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pt-BR" sz="36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0FAB5A57-AA6B-418C-8784-ED755650A3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31" b="-202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0CF08D1-5705-4999-AD15-CBD8637BE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17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41C2D7B9-9B5B-413E-A584-7EF2F5AA3670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848465"/>
                <a:ext cx="8229600" cy="3451122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Um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maior significa variâncias maiores dos estimadores de MQO. Um “ruído” maior na equação (um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maior) torna mais difícil estimar o efeito parcial de qualquer uma das variáveis independentes sobre y e isso se reflete nas variâncias maiores dos estimadores de inclinação 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Para uma dada variável independente, há somente uma maneira de reduzir a variância do erro que é adicionar variáveis explicativas à equação</a:t>
                </a: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41C2D7B9-9B5B-413E-A584-7EF2F5AA36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848465"/>
                <a:ext cx="8229600" cy="3451122"/>
              </a:xfrm>
              <a:blipFill>
                <a:blip r:embed="rId3"/>
                <a:stretch>
                  <a:fillRect l="-2222" t="-6537" r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8126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11D5B798-5F18-4D44-9629-09A5F0DBFC8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sz="3600" dirty="0">
                    <a:solidFill>
                      <a:schemeClr val="tx2">
                        <a:lumMod val="50000"/>
                      </a:schemeClr>
                    </a:solidFill>
                  </a:rPr>
                  <a:t>Variação total 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60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600" b="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3600" b="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pt-BR" sz="36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11D5B798-5F18-4D44-9629-09A5F0DBFC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31" b="-154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72A7C47-A9BE-461A-92D2-9C55914AA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18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BAC2F9C9-84CE-440A-AE53-79BE0030FC2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917290"/>
                <a:ext cx="8229600" cy="3048000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Melhor ter tanta variação amostral 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quanto possível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Uma maneira de aumentar a variação amostral é aumentar o tamanho da amostra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O caso extremo de nenhuma variação amostral em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𝑆𝑄𝑇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=0, não é permitido pela Hipótese RLM.4</a:t>
                </a: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BAC2F9C9-84CE-440A-AE53-79BE0030FC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917290"/>
                <a:ext cx="8229600" cy="3048000"/>
              </a:xfrm>
              <a:blipFill>
                <a:blip r:embed="rId3"/>
                <a:stretch>
                  <a:fillRect l="-2222" t="-6000" r="-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52574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pt-BR" sz="400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4000" b="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4000" b="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pt-BR" sz="4000" b="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sz="4000" dirty="0">
                    <a:solidFill>
                      <a:schemeClr val="tx2">
                        <a:lumMod val="50000"/>
                      </a:schemeClr>
                    </a:solidFill>
                  </a:rPr>
                  <a:t> </a:t>
                </a:r>
                <a:endParaRPr lang="pt-BR" sz="4000" dirty="0"/>
              </a:p>
            </p:txBody>
          </p:sp>
        </mc:Choice>
        <mc:Fallback xmlns="">
          <p:sp>
            <p:nvSpPr>
              <p:cNvPr id="2" name="Título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19</a:t>
            </a:fld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ço Reservado para Conteúdo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597981"/>
                <a:ext cx="8229600" cy="4055568"/>
              </a:xfrm>
            </p:spPr>
            <p:txBody>
              <a:bodyPr/>
              <a:lstStyle/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Considerar inicialmente o caso simples,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=2;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pt-BR" sz="24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Então,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sz="24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4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𝑆𝑄𝑇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sSubSup>
                          <m:sSubSupPr>
                            <m:ctrlP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, em que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é o R-quadrado da regressão simples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e um intercepto. Como o R-quadrado mede o grau de </a:t>
                </a:r>
                <a:r>
                  <a:rPr lang="pt-BR" sz="2400" dirty="0" smtClean="0">
                    <a:solidFill>
                      <a:schemeClr val="accent5">
                        <a:lumMod val="10000"/>
                      </a:schemeClr>
                    </a:solidFill>
                  </a:rPr>
                  <a:t>ajuste da regressão, </a:t>
                </a: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um valor de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próximo de um indica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explica bastante da variação 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na amostra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Quando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cresce em direção a 1, </a:t>
                </a:r>
                <a14:m>
                  <m:oMath xmlns:m="http://schemas.openxmlformats.org/officeDocument/2006/math">
                    <m:r>
                      <a:rPr lang="pt-BR" sz="24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sz="24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4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pt-BR" sz="24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torna-se maior. Assim, um grau alto de correlação entre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pode levar a variâncias grandes dos estimadores de inclinação</a:t>
                </a:r>
              </a:p>
            </p:txBody>
          </p:sp>
        </mc:Choice>
        <mc:Fallback>
          <p:sp>
            <p:nvSpPr>
              <p:cNvPr id="4" name="Espaço Reservado para Conteúdo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597981"/>
                <a:ext cx="8229600" cy="4055568"/>
              </a:xfrm>
              <a:blipFill>
                <a:blip r:embed="rId3"/>
                <a:stretch>
                  <a:fillRect l="-1111" t="-1203" r="-1111" b="-37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776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20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742536"/>
                <a:ext cx="8229600" cy="3704535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No caso geral,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0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 é a proporção da variação total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 que pode ser explicada pelas outras variáveis independentes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Para dados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0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𝑆𝑄𝑇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, a menor </a:t>
                </a:r>
                <a14:m>
                  <m:oMath xmlns:m="http://schemas.openxmlformats.org/officeDocument/2006/math">
                    <m:r>
                      <a:rPr lang="pt-BR" sz="20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pt-BR" sz="20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0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0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0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0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sz="20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 é obtida quando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= 0, o que ocorre se, e somente se,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 tem correlação amostral zero com cada uma das variáveis independentes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O outro caso extremo,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0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=1, é excluído pela hipótese RLM.4, pois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=1 significa que na amostra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 é uma combinação linear perfeita de algumas das outras variáveis independentes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0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pt-BR" sz="20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0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0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0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0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sz="20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pt-BR" sz="20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 quando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pt-BR" sz="20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pt-BR" sz="200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1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000" dirty="0" err="1">
                    <a:solidFill>
                      <a:schemeClr val="accent5">
                        <a:lumMod val="10000"/>
                      </a:schemeClr>
                    </a:solidFill>
                  </a:rPr>
                  <a:t>Multicolinearidade</a:t>
                </a:r>
                <a:endParaRPr lang="pt-BR" sz="20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>
                  <a:buNone/>
                </a:pPr>
                <a:endParaRPr lang="pt-BR" dirty="0"/>
              </a:p>
              <a:p>
                <a:pPr marL="5081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4" name="Espaço Reservado para Conteúdo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742536"/>
                <a:ext cx="8229600" cy="3704535"/>
              </a:xfrm>
              <a:blipFill>
                <a:blip r:embed="rId2"/>
                <a:stretch>
                  <a:fillRect l="-1852" t="-6086" r="-7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5712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21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759789"/>
                <a:ext cx="8229600" cy="3962586"/>
              </a:xfrm>
            </p:spPr>
            <p:txBody>
              <a:bodyPr/>
              <a:lstStyle/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Um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próximo de um  não é uma violação da Hipótese RLM.4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Próximo não é bem definido. Não há um número absoluto que podemos citar para concluir que a </a:t>
                </a:r>
                <a:r>
                  <a:rPr lang="pt-BR" sz="2400" dirty="0" err="1">
                    <a:solidFill>
                      <a:schemeClr val="accent5">
                        <a:lumMod val="10000"/>
                      </a:schemeClr>
                    </a:solidFill>
                  </a:rPr>
                  <a:t>multicolinearidade</a:t>
                </a: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é um problema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Como lidar com o problema da </a:t>
                </a:r>
                <a:r>
                  <a:rPr lang="pt-BR" sz="2400" dirty="0" err="1">
                    <a:solidFill>
                      <a:schemeClr val="accent5">
                        <a:lumMod val="10000"/>
                      </a:schemeClr>
                    </a:solidFill>
                  </a:rPr>
                  <a:t>multicolinearidade</a:t>
                </a: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? i) coletar mais dados (mas, provavelmente eles já teriam sido coletados se estivessem disponíveis); </a:t>
                </a:r>
                <a:r>
                  <a:rPr lang="pt-BR" sz="2400" dirty="0" err="1">
                    <a:solidFill>
                      <a:schemeClr val="accent5">
                        <a:lumMod val="10000"/>
                      </a:schemeClr>
                    </a:solidFill>
                  </a:rPr>
                  <a:t>ii</a:t>
                </a: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) suprimir variáveis independentes do modelo (mas isso, como vimos antes, pode causar viés) </a:t>
                </a:r>
              </a:p>
              <a:p>
                <a:pPr marL="5081" indent="0" algn="just">
                  <a:buNone/>
                </a:pPr>
                <a:endParaRPr lang="pt-BR" sz="2400" dirty="0"/>
              </a:p>
            </p:txBody>
          </p:sp>
        </mc:Choice>
        <mc:Fallback xmlns="">
          <p:sp>
            <p:nvSpPr>
              <p:cNvPr id="6" name="Espaço Reservado para Conteúdo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759789"/>
                <a:ext cx="8229600" cy="3962586"/>
              </a:xfrm>
              <a:blipFill>
                <a:blip r:embed="rId3"/>
                <a:stretch>
                  <a:fillRect l="-1852" t="-4462" r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2336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22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65D3EBD-A10E-4B59-BF41-6E071C3D1980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756876"/>
                <a:ext cx="8229600" cy="3690195"/>
              </a:xfrm>
            </p:spPr>
            <p:txBody>
              <a:bodyPr/>
              <a:lstStyle/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O estimador não viesado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no caso da regressão múltipla é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endParaRPr lang="pt-BR" sz="24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pt-BR" sz="2400" i="1" smtClean="0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400" i="1" smtClean="0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pt-BR" sz="2400" b="0" i="1" smtClean="0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400" b="0" i="1" smtClean="0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400" b="0" i="1" smtClean="0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pt-BR" sz="2400" b="0" i="1" smtClean="0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400" b="0" i="1" smtClean="0">
                                  <a:solidFill>
                                    <a:schemeClr val="accent5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pt-BR" sz="2400" b="0" i="1" smtClean="0">
                                      <a:solidFill>
                                        <a:schemeClr val="accent5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pt-BR" sz="2400" b="0" i="1" smtClean="0">
                                          <a:solidFill>
                                            <a:schemeClr val="accent5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2400" b="0" i="1" smtClean="0">
                                          <a:solidFill>
                                            <a:schemeClr val="accent5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pt-BR" sz="2400" b="0" i="1" smtClean="0">
                                      <a:solidFill>
                                        <a:schemeClr val="accent5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pt-BR" sz="2400" b="0" i="1" smtClean="0">
                                      <a:solidFill>
                                        <a:schemeClr val="accent5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num>
                        <m:den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</m:den>
                      </m:f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𝑆𝑄𝑅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endParaRPr lang="pt-BR" sz="24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400" i="1" dirty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i="1" dirty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pt-BR" sz="24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pt-BR" sz="2400" i="1" dirty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pt-BR" sz="24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400" i="1" dirty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i="1" dirty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4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pt-BR" sz="2400" i="1" dirty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pt-BR" sz="24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400" i="1" dirty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i="1" dirty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4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sz="24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400" b="0" i="1" dirty="0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400" b="0" i="1" dirty="0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i="1" dirty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pt-BR" sz="24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400" i="1" dirty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i="1" dirty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4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pt-BR" sz="2400" i="1" dirty="0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400" b="0" i="1" dirty="0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400" b="0" i="1" dirty="0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b="0" i="1" dirty="0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4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/>
                      </a:rPr>
                      <m:t>…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4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endParaRPr lang="pt-BR" sz="28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Teorema 3 Sob as hipóteses RLM.1 a RLM.5,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pt-BR" sz="24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400" b="0" i="1" smtClean="0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acc>
                          </m:e>
                          <m:sup>
                            <m:r>
                              <a:rPr lang="pt-BR" sz="2400" b="0" i="1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pt-BR" sz="24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buNone/>
                </a:pPr>
                <a:endParaRPr lang="pt-BR" sz="2800" dirty="0"/>
              </a:p>
              <a:p>
                <a:pPr marL="5081" indent="0" algn="just">
                  <a:buNone/>
                </a:pPr>
                <a:endParaRPr lang="pt-BR" sz="2800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65D3EBD-A10E-4B59-BF41-6E071C3D19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756876"/>
                <a:ext cx="8229600" cy="3690195"/>
              </a:xfrm>
              <a:blipFill>
                <a:blip r:embed="rId2"/>
                <a:stretch>
                  <a:fillRect l="-1111" t="-132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90978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sz="3200" dirty="0">
                <a:solidFill>
                  <a:schemeClr val="tx2">
                    <a:lumMod val="50000"/>
                  </a:schemeClr>
                </a:solidFill>
              </a:rPr>
              <a:t>Variâncias em modelos mal especificados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23</a:t>
            </a:fld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457200" y="2143432"/>
            <a:ext cx="8229600" cy="2625213"/>
          </a:xfrm>
        </p:spPr>
        <p:txBody>
          <a:bodyPr/>
          <a:lstStyle/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5">
                    <a:lumMod val="10000"/>
                  </a:schemeClr>
                </a:solidFill>
              </a:rPr>
              <a:t>Anteriormente derivamos o viés produzido pela omissão de variável relevante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5">
                    <a:lumMod val="10000"/>
                  </a:schemeClr>
                </a:solidFill>
              </a:rPr>
              <a:t>Agora vamos verificar o que acontece com a variância</a:t>
            </a:r>
          </a:p>
        </p:txBody>
      </p:sp>
    </p:spTree>
    <p:extLst>
      <p:ext uri="{BB962C8B-B14F-4D97-AF65-F5344CB8AC3E}">
        <p14:creationId xmlns:p14="http://schemas.microsoft.com/office/powerpoint/2010/main" val="24902074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endParaRPr lang="pt-BR" sz="4000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24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630392"/>
                <a:ext cx="8229600" cy="4190305"/>
              </a:xfrm>
            </p:spPr>
            <p:txBody>
              <a:bodyPr/>
              <a:lstStyle/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4">
                        <a:lumMod val="75000"/>
                      </a:schemeClr>
                    </a:solidFill>
                  </a:rPr>
                  <a:t>Assumir que o modelo populacional verdadeiro que satisfaz as hipóteses de Gauss-</a:t>
                </a:r>
                <a:r>
                  <a:rPr lang="pt-BR" sz="2400" dirty="0" err="1">
                    <a:solidFill>
                      <a:schemeClr val="accent4">
                        <a:lumMod val="75000"/>
                      </a:schemeClr>
                    </a:solidFill>
                  </a:rPr>
                  <a:t>Markov</a:t>
                </a:r>
                <a:r>
                  <a:rPr lang="pt-BR" sz="2400" dirty="0">
                    <a:solidFill>
                      <a:schemeClr val="accent4">
                        <a:lumMod val="75000"/>
                      </a:schemeClr>
                    </a:solidFill>
                  </a:rPr>
                  <a:t> é </a:t>
                </a:r>
                <a:r>
                  <a:rPr lang="pt-BR" sz="2400" i="1" dirty="0">
                    <a:solidFill>
                      <a:schemeClr val="accent4">
                        <a:lumMod val="75000"/>
                      </a:schemeClr>
                    </a:solidFill>
                  </a:rPr>
                  <a:t>y </a:t>
                </a:r>
                <a14:m>
                  <m:oMath xmlns:m="http://schemas.openxmlformats.org/officeDocument/2006/math">
                    <m:r>
                      <a:rPr lang="pt-BR" sz="2400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4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400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4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sz="240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pt-BR" sz="24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pt-BR" sz="24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+</m:t>
                    </m:r>
                    <m:r>
                      <a:rPr lang="pt-BR" sz="24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pt-BR" sz="2400" dirty="0">
                  <a:solidFill>
                    <a:schemeClr val="accent4">
                      <a:lumMod val="75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4">
                        <a:lumMod val="75000"/>
                      </a:schemeClr>
                    </a:solidFill>
                  </a:rPr>
                  <a:t>Estimador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pt-BR" sz="240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pt-BR" sz="2400" dirty="0">
                    <a:solidFill>
                      <a:schemeClr val="accent4">
                        <a:lumMod val="75000"/>
                      </a:schemeClr>
                    </a:solidFill>
                  </a:rPr>
                  <a:t> 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 i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b="0" i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pt-BR" sz="2400" b="0" i="1" dirty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400" i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400" i="1" dirty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i="1" dirty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400" i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pt-BR" sz="2400" i="1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pt-BR" sz="2400" i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400" i="1" dirty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i="1" dirty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400" i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sz="2400" i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400" i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i="1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pt-BR" sz="2400" i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400" i="1" dirty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i="1" dirty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400" i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pt-BR" sz="2400" i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400" i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4">
                        <a:lumMod val="75000"/>
                      </a:schemeClr>
                    </a:solidFill>
                  </a:rPr>
                  <a:t>     (1)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4">
                        <a:lumMod val="75000"/>
                      </a:schemeClr>
                    </a:solidFill>
                  </a:rPr>
                  <a:t>Estimador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pt-BR" sz="240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pt-BR" sz="240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pt-BR" sz="2400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pt-BR" sz="2400" dirty="0">
                    <a:solidFill>
                      <a:schemeClr val="accent4">
                        <a:lumMod val="75000"/>
                      </a:schemeClr>
                    </a:solidFill>
                  </a:rPr>
                  <a:t> 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pt-BR" sz="2400" i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b="0" i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pt-BR" sz="2400" i="1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400" i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pt-BR" sz="2400" i="1" dirty="0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i="1" dirty="0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400" b="0" i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400" i="1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pt-BR" sz="2400" i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pt-BR" sz="2400" i="1" dirty="0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i="1" dirty="0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400" b="0" i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sz="2400" i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400" i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4">
                        <a:lumMod val="75000"/>
                      </a:schemeClr>
                    </a:solidFill>
                  </a:rPr>
                  <a:t>     (2)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4">
                        <a:lumMod val="75000"/>
                      </a:schemeClr>
                    </a:solidFill>
                  </a:rPr>
                  <a:t>Quando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pt-BR" sz="2400" dirty="0">
                    <a:solidFill>
                      <a:schemeClr val="accent4">
                        <a:lumMod val="75000"/>
                      </a:schemeClr>
                    </a:solidFill>
                  </a:rPr>
                  <a:t>, a equação (2) exclui uma variável relevante do modelo e, como vimos anteriormente, isso induz um viés 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pt-BR" sz="2400" i="1" dirty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i="1" dirty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400" i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4">
                        <a:lumMod val="75000"/>
                      </a:schemeClr>
                    </a:solidFill>
                  </a:rPr>
                  <a:t>, a não ser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400" i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4">
                        <a:lumMod val="75000"/>
                      </a:schemeClr>
                    </a:solidFill>
                  </a:rPr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400" i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4">
                        <a:lumMod val="75000"/>
                      </a:schemeClr>
                    </a:solidFill>
                  </a:rPr>
                  <a:t> sejam não correlacionados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4">
                        <a:lumMod val="75000"/>
                      </a:schemeClr>
                    </a:solidFill>
                  </a:rPr>
                  <a:t>Por outro lado,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400" i="1" dirty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i="1" dirty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400" i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4">
                        <a:lumMod val="75000"/>
                      </a:schemeClr>
                    </a:solidFill>
                  </a:rPr>
                  <a:t> é não viesado para qualquer valor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4">
                        <a:lumMod val="75000"/>
                      </a:schemeClr>
                    </a:solidFill>
                  </a:rPr>
                  <a:t>, incluindo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4">
                        <a:lumMod val="75000"/>
                      </a:schemeClr>
                    </a:solidFill>
                  </a:rPr>
                  <a:t>= 0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4">
                        <a:lumMod val="75000"/>
                      </a:schemeClr>
                    </a:solidFill>
                  </a:rPr>
                  <a:t>Se o viés for usado como único critério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400" i="1" dirty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i="1" dirty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400" i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4">
                        <a:lumMod val="75000"/>
                      </a:schemeClr>
                    </a:solidFill>
                  </a:rPr>
                  <a:t> é preferível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pt-BR" sz="2400" i="1" dirty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i="1" dirty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400" i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4" name="Espaço Reservado para Conteúdo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630392"/>
                <a:ext cx="8229600" cy="4190305"/>
              </a:xfrm>
              <a:blipFill>
                <a:blip r:embed="rId2"/>
                <a:stretch>
                  <a:fillRect l="-1111" t="-1163" r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74282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546E53-C699-4425-8EFA-B2733EF06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E a variância?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D3D9E21C-222A-4343-A034-DA32B3E7A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25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AF00D252-776B-4EB1-A1A2-9FD8A374814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828800"/>
                <a:ext cx="8229600" cy="3559277"/>
              </a:xfrm>
            </p:spPr>
            <p:txBody>
              <a:bodyPr/>
              <a:lstStyle/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pt-BR" sz="28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sz="2800" b="0" i="1" smtClean="0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800" b="0" i="1" smtClean="0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pt-BR" sz="28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𝑆𝑄𝑇</m:t>
                            </m:r>
                          </m:e>
                          <m:sub>
                            <m: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sSubSup>
                          <m:sSubSupPr>
                            <m:ctrlP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pt-BR" sz="28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pt-BR" sz="2800" dirty="0">
                    <a:solidFill>
                      <a:schemeClr val="accent4">
                        <a:lumMod val="50000"/>
                      </a:schemeClr>
                    </a:solidFill>
                  </a:rPr>
                  <a:t>     (3)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4">
                        <a:lumMod val="50000"/>
                      </a:schemeClr>
                    </a:solidFill>
                  </a:rPr>
                  <a:t>É possível mostrar que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pt-BR" sz="28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pt-BR" sz="2800" b="0" i="1" smtClean="0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800" b="0" i="1" smtClean="0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pt-BR" sz="28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𝑆𝑄𝑇</m:t>
                            </m:r>
                          </m:e>
                          <m:sub>
                            <m: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pt-BR" sz="2800" dirty="0">
                    <a:solidFill>
                      <a:schemeClr val="accent4">
                        <a:lumMod val="50000"/>
                      </a:schemeClr>
                    </a:solidFill>
                  </a:rPr>
                  <a:t>    (4)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800" dirty="0">
                    <a:solidFill>
                      <a:schemeClr val="accent4">
                        <a:lumMod val="50000"/>
                      </a:schemeClr>
                    </a:solidFill>
                  </a:rPr>
                  <a:t>Comparando (3) e (4) vemos que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pt-BR" sz="28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pt-BR" sz="2800" b="0" i="1" smtClean="0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800" b="0" i="1" smtClean="0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pt-BR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2800" dirty="0">
                    <a:solidFill>
                      <a:schemeClr val="accent4">
                        <a:lumMod val="50000"/>
                      </a:schemeClr>
                    </a:solidFill>
                  </a:rPr>
                  <a:t> é sempre menor do que </a:t>
                </a:r>
                <a14:m>
                  <m:oMath xmlns:m="http://schemas.openxmlformats.org/officeDocument/2006/math">
                    <m:r>
                      <a:rPr lang="pt-BR" sz="2800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pt-BR" sz="28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sz="2800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800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pt-BR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2800" dirty="0">
                    <a:solidFill>
                      <a:schemeClr val="accent4">
                        <a:lumMod val="50000"/>
                      </a:schemeClr>
                    </a:solidFill>
                  </a:rPr>
                  <a:t>, a menos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800" i="1" dirty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4">
                        <a:lumMod val="50000"/>
                      </a:schemeClr>
                    </a:solidFill>
                  </a:rPr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800" i="1" dirty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schemeClr val="accent4">
                        <a:lumMod val="50000"/>
                      </a:schemeClr>
                    </a:solidFill>
                  </a:rPr>
                  <a:t> sejam não correlacionados, caso em que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pt-BR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pt-BR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pt-BR" sz="2800" dirty="0">
                    <a:solidFill>
                      <a:schemeClr val="accent4">
                        <a:lumMod val="50000"/>
                      </a:schemeClr>
                    </a:solidFill>
                  </a:rPr>
                  <a:t> 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pt-BR" sz="28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pt-BR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pt-BR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pt-BR" sz="2800" dirty="0">
                    <a:solidFill>
                      <a:schemeClr val="accent4">
                        <a:lumMod val="50000"/>
                      </a:schemeClr>
                    </a:solidFill>
                  </a:rPr>
                  <a:t> são iguais</a:t>
                </a: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AF00D252-776B-4EB1-A1A2-9FD8A37481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828800"/>
                <a:ext cx="8229600" cy="3559277"/>
              </a:xfrm>
              <a:blipFill>
                <a:blip r:embed="rId2"/>
                <a:stretch>
                  <a:fillRect l="-1481" r="-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6987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just"/>
                <a:r>
                  <a:rPr lang="pt-BR" dirty="0"/>
                  <a:t/>
                </a:r>
                <a:br>
                  <a:rPr lang="pt-BR" dirty="0"/>
                </a:br>
                <a:r>
                  <a:rPr lang="pt-BR" sz="3200" dirty="0">
                    <a:solidFill>
                      <a:schemeClr val="tx2">
                        <a:lumMod val="50000"/>
                      </a:schemeClr>
                    </a:solidFill>
                  </a:rPr>
                  <a:t>Assumindo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200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200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3200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3200" dirty="0">
                    <a:solidFill>
                      <a:schemeClr val="tx2">
                        <a:lumMod val="50000"/>
                      </a:schemeClr>
                    </a:solidFill>
                  </a:rPr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200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200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3200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3200" dirty="0">
                    <a:solidFill>
                      <a:schemeClr val="tx2">
                        <a:lumMod val="50000"/>
                      </a:schemeClr>
                    </a:solidFill>
                  </a:rPr>
                  <a:t> saõ correlacionados podemos concluir</a:t>
                </a:r>
                <a:endParaRPr lang="pt-BR" sz="3200" dirty="0"/>
              </a:p>
            </p:txBody>
          </p:sp>
        </mc:Choice>
        <mc:Fallback xmlns="">
          <p:sp>
            <p:nvSpPr>
              <p:cNvPr id="2" name="Título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39" t="-532" r="-1961" b="-170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26</a:t>
            </a:fld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ço Reservado para Conteúdo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691148"/>
                <a:ext cx="8229600" cy="4149213"/>
              </a:xfrm>
            </p:spPr>
            <p:txBody>
              <a:bodyPr/>
              <a:lstStyle/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1. </a:t>
                </a:r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Quando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1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1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21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1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1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pt-BR" sz="2100" i="1" dirty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100" i="1" dirty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1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 é </a:t>
                </a:r>
                <a:r>
                  <a:rPr lang="pt-BR" sz="2100" dirty="0" err="1">
                    <a:solidFill>
                      <a:schemeClr val="accent5">
                        <a:lumMod val="10000"/>
                      </a:schemeClr>
                    </a:solidFill>
                  </a:rPr>
                  <a:t>viesado</a:t>
                </a:r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1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100" i="1" dirty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100" i="1" dirty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1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é não </a:t>
                </a:r>
                <a:r>
                  <a:rPr lang="pt-BR" sz="2100" dirty="0" err="1">
                    <a:solidFill>
                      <a:schemeClr val="accent5">
                        <a:lumMod val="10000"/>
                      </a:schemeClr>
                    </a:solidFill>
                  </a:rPr>
                  <a:t>viesado</a:t>
                </a:r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pt-BR" sz="21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pt-BR" sz="21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1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pt-BR" sz="21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1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pt-BR" sz="21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 &lt; </a:t>
                </a:r>
                <a14:m>
                  <m:oMath xmlns:m="http://schemas.openxmlformats.org/officeDocument/2006/math">
                    <m:r>
                      <a:rPr lang="pt-BR" sz="21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pt-BR" sz="21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1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sz="21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1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pt-BR" sz="21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 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2. Quando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1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1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21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1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  <m:r>
                      <a:rPr lang="pt-BR" sz="21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1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pt-BR" sz="2100" i="1" dirty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100" i="1" dirty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1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1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100" i="1" dirty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100" i="1" dirty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1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 são ambos não </a:t>
                </a:r>
                <a:r>
                  <a:rPr lang="pt-BR" sz="2100" dirty="0" err="1">
                    <a:solidFill>
                      <a:schemeClr val="accent5">
                        <a:lumMod val="10000"/>
                      </a:schemeClr>
                    </a:solidFill>
                  </a:rPr>
                  <a:t>viesados</a:t>
                </a:r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pt-BR" sz="21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pt-BR" sz="21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1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pt-BR" sz="21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1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pt-BR" sz="21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 &lt; </a:t>
                </a:r>
                <a14:m>
                  <m:oMath xmlns:m="http://schemas.openxmlformats.org/officeDocument/2006/math">
                    <m:r>
                      <a:rPr lang="pt-BR" sz="21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pt-BR" sz="21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1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sz="21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1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pt-BR" sz="21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 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De 2. é claro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1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pt-BR" sz="2100" i="1" dirty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100" i="1" dirty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1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 é preferido 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1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1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21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1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  <m:r>
                      <a:rPr lang="pt-BR" sz="21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. Intuitivamente, 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1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1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1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 não tem um efeito parcial sobre y, então incluir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1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1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1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 no modelo pode somente ampliar o problema de </a:t>
                </a:r>
                <a:r>
                  <a:rPr lang="pt-BR" sz="2100" dirty="0" err="1">
                    <a:solidFill>
                      <a:schemeClr val="accent5">
                        <a:lumMod val="10000"/>
                      </a:schemeClr>
                    </a:solidFill>
                  </a:rPr>
                  <a:t>multicolinearidade</a:t>
                </a:r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, o que conduz a um estimador menos eficiente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1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1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21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. Uma variância mais alta do estimador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1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1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21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 é o preço a se pagar por incluir uma variável irrelevante no modelo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Quando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1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1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21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1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 qualquer viés 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1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100" i="1" dirty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100" i="1" dirty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1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100" dirty="0" smtClean="0">
                    <a:solidFill>
                      <a:schemeClr val="accent5">
                        <a:lumMod val="10000"/>
                      </a:schemeClr>
                    </a:solidFill>
                  </a:rPr>
                  <a:t> não </a:t>
                </a:r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diminui à medida que o tamanho da amostra aumenta. Por outro lado, tanto </a:t>
                </a:r>
                <a14:m>
                  <m:oMath xmlns:m="http://schemas.openxmlformats.org/officeDocument/2006/math">
                    <m:r>
                      <a:rPr lang="pt-BR" sz="21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pt-BR" sz="21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1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pt-BR" sz="21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1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pt-BR" sz="21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 quanto </a:t>
                </a:r>
                <a14:m>
                  <m:oMath xmlns:m="http://schemas.openxmlformats.org/officeDocument/2006/math">
                    <m:r>
                      <a:rPr lang="pt-BR" sz="21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pt-BR" sz="21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1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sz="21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1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pt-BR" sz="21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 convergem para zero à medida que </a:t>
                </a:r>
                <a:r>
                  <a:rPr lang="pt-BR" sz="2100" i="1" dirty="0">
                    <a:solidFill>
                      <a:schemeClr val="accent5">
                        <a:lumMod val="10000"/>
                      </a:schemeClr>
                    </a:solidFill>
                  </a:rPr>
                  <a:t>n</a:t>
                </a:r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 cresce. Em amostras grandes,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1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100" i="1" dirty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100" i="1" dirty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1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100" dirty="0">
                    <a:solidFill>
                      <a:schemeClr val="accent5">
                        <a:lumMod val="10000"/>
                      </a:schemeClr>
                    </a:solidFill>
                  </a:rPr>
                  <a:t> é preferível</a:t>
                </a:r>
              </a:p>
              <a:p>
                <a:pPr marL="5081" indent="0" algn="just">
                  <a:buNone/>
                </a:pPr>
                <a:endParaRPr lang="pt-BR" sz="20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buNone/>
                </a:pPr>
                <a:endParaRPr lang="pt-BR" sz="2400" dirty="0"/>
              </a:p>
            </p:txBody>
          </p:sp>
        </mc:Choice>
        <mc:Fallback>
          <p:sp>
            <p:nvSpPr>
              <p:cNvPr id="4" name="Espaço Reservado para Conteúdo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691148"/>
                <a:ext cx="8229600" cy="4149213"/>
              </a:xfrm>
              <a:blipFill>
                <a:blip r:embed="rId3"/>
                <a:stretch>
                  <a:fillRect l="-1852" t="-587" r="-889" b="-308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88194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983226"/>
          </a:xfrm>
        </p:spPr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Teorema de Gauss-Markov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27</a:t>
            </a:fld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ço Reservado para Conteúdo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708030"/>
                <a:ext cx="8229600" cy="4220822"/>
              </a:xfrm>
            </p:spPr>
            <p:txBody>
              <a:bodyPr/>
              <a:lstStyle/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Teorema 4 Sob as Hipóteses RML.1 a RLM.5,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6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600" i="1" dirty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600" i="1" dirty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6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pt-BR" sz="2600" b="0" i="1" dirty="0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sz="2600" b="0" i="1" dirty="0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600" b="0" i="1" dirty="0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600" b="0" i="1" dirty="0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600" b="0" i="1" dirty="0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600" b="0" i="1" dirty="0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pt-BR" sz="26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600" i="1" dirty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600" i="1" dirty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600" b="0" i="1" dirty="0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 são os melhores estimadores lineares não </a:t>
                </a:r>
                <a:r>
                  <a:rPr lang="pt-BR" sz="2600" dirty="0" err="1">
                    <a:solidFill>
                      <a:schemeClr val="accent5">
                        <a:lumMod val="10000"/>
                      </a:schemeClr>
                    </a:solidFill>
                  </a:rPr>
                  <a:t>viesados</a:t>
                </a:r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6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6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26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, respectivamente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O teorema de Gauss </a:t>
                </a:r>
                <a:r>
                  <a:rPr lang="pt-BR" sz="2600" dirty="0" err="1">
                    <a:solidFill>
                      <a:schemeClr val="accent5">
                        <a:lumMod val="10000"/>
                      </a:schemeClr>
                    </a:solidFill>
                  </a:rPr>
                  <a:t>Markov</a:t>
                </a:r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 estabelece que, para qualquer estimador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600" i="1" dirty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pt-BR" sz="2600" i="1" dirty="0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600" i="1" dirty="0" smtClean="0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pt-BR" sz="2600" b="0" i="1" dirty="0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 que é linear e não </a:t>
                </a:r>
                <a:r>
                  <a:rPr lang="pt-BR" sz="2600" dirty="0" err="1">
                    <a:solidFill>
                      <a:schemeClr val="accent5">
                        <a:lumMod val="10000"/>
                      </a:schemeClr>
                    </a:solidFill>
                  </a:rPr>
                  <a:t>viesado</a:t>
                </a:r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pt-BR" sz="26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6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sz="26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6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pt-BR" sz="26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t-BR" sz="2600" i="1" dirty="0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t-BR" sz="26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pt-BR" sz="26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6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pt-BR" sz="26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600" i="1">
                                    <a:solidFill>
                                      <a:schemeClr val="accent5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pt-BR" sz="2600" i="1">
                                <a:solidFill>
                                  <a:schemeClr val="accent5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pt-BR" sz="26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600" dirty="0">
                    <a:solidFill>
                      <a:schemeClr val="accent5">
                        <a:lumMod val="10000"/>
                      </a:schemeClr>
                    </a:solidFill>
                  </a:rPr>
                  <a:t>Em outras palavras, na classe de estimadores lineares não viesados, MQO tem a menor variância dadas as 5 hipóteses de Gauss-Markov (para os que se interessarem a prova está no apêndice do capítulo 3 </a:t>
                </a:r>
                <a:r>
                  <a:rPr lang="pt-BR" sz="2600" dirty="0" smtClean="0">
                    <a:solidFill>
                      <a:schemeClr val="accent5">
                        <a:lumMod val="10000"/>
                      </a:schemeClr>
                    </a:solidFill>
                  </a:rPr>
                  <a:t>– </a:t>
                </a:r>
                <a:r>
                  <a:rPr lang="pt-BR" sz="2600" dirty="0" err="1" smtClean="0">
                    <a:solidFill>
                      <a:schemeClr val="accent5">
                        <a:lumMod val="10000"/>
                      </a:schemeClr>
                    </a:solidFill>
                  </a:rPr>
                  <a:t>Wooldridge</a:t>
                </a:r>
                <a:r>
                  <a:rPr lang="pt-BR" sz="2600" dirty="0" smtClean="0">
                    <a:solidFill>
                      <a:schemeClr val="accent5">
                        <a:lumMod val="10000"/>
                      </a:schemeClr>
                    </a:solidFill>
                  </a:rPr>
                  <a:t>)</a:t>
                </a:r>
                <a:endParaRPr lang="pt-BR" sz="2600" dirty="0">
                  <a:solidFill>
                    <a:schemeClr val="accent5">
                      <a:lumMod val="1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Espaço Reservado para Conteúdo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708030"/>
                <a:ext cx="8229600" cy="4220822"/>
              </a:xfrm>
              <a:blipFill>
                <a:blip r:embed="rId2"/>
                <a:stretch>
                  <a:fillRect l="-1259" t="-722" r="-1333" b="-288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41692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28</a:t>
            </a:fld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457200" y="2045110"/>
            <a:ext cx="8229600" cy="3234814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accent4">
                    <a:lumMod val="50000"/>
                  </a:schemeClr>
                </a:solidFill>
              </a:rPr>
              <a:t>Se a Hipótese de média condicional zero falhar (Hipótese RLM.3) o estimador MQO é </a:t>
            </a:r>
            <a:r>
              <a:rPr lang="pt-BR" sz="2800" dirty="0" err="1">
                <a:solidFill>
                  <a:schemeClr val="accent4">
                    <a:lumMod val="50000"/>
                  </a:schemeClr>
                </a:solidFill>
              </a:rPr>
              <a:t>viesado</a:t>
            </a:r>
            <a:r>
              <a:rPr lang="pt-BR" sz="2800" dirty="0">
                <a:solidFill>
                  <a:schemeClr val="accent4">
                    <a:lumMod val="50000"/>
                  </a:schemeClr>
                </a:solidFill>
              </a:rPr>
              <a:t> e, portanto, o Teorema 3 não vale</a:t>
            </a:r>
          </a:p>
          <a:p>
            <a:pPr algn="just">
              <a:spcBef>
                <a:spcPts val="0"/>
              </a:spcBef>
            </a:pPr>
            <a:r>
              <a:rPr lang="pt-BR" sz="2800" dirty="0" err="1">
                <a:solidFill>
                  <a:schemeClr val="accent4">
                    <a:lumMod val="50000"/>
                  </a:schemeClr>
                </a:solidFill>
              </a:rPr>
              <a:t>Heterocedasticidade</a:t>
            </a:r>
            <a:r>
              <a:rPr lang="pt-BR" sz="2800" dirty="0">
                <a:solidFill>
                  <a:schemeClr val="accent4">
                    <a:lumMod val="50000"/>
                  </a:schemeClr>
                </a:solidFill>
              </a:rPr>
              <a:t> (falha da Hipótese RLM.5) não faz com que o estimador MQO seja </a:t>
            </a:r>
            <a:r>
              <a:rPr lang="pt-BR" sz="2800" dirty="0" err="1">
                <a:solidFill>
                  <a:schemeClr val="accent4">
                    <a:lumMod val="50000"/>
                  </a:schemeClr>
                </a:solidFill>
              </a:rPr>
              <a:t>viesado</a:t>
            </a:r>
            <a:r>
              <a:rPr lang="pt-BR" sz="2800" dirty="0">
                <a:solidFill>
                  <a:schemeClr val="accent4">
                    <a:lumMod val="50000"/>
                  </a:schemeClr>
                </a:solidFill>
              </a:rPr>
              <a:t>. Contudo, MQO não tem mais a menor variância entre os estimadores lineares não viesados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4576711"/>
      </p:ext>
    </p:extLst>
  </p:cSld>
  <p:clrMapOvr>
    <a:masterClrMapping/>
  </p:clrMapOvr>
</p:sld>
</file>

<file path=ppt/theme/theme1.xml><?xml version="1.0" encoding="utf-8"?>
<a:theme xmlns:a="http://schemas.openxmlformats.org/drawingml/2006/main" name="1_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2443</TotalTime>
  <Words>645</Words>
  <Application>Microsoft Office PowerPoint</Application>
  <PresentationFormat>Apresentação na tela (4:3)</PresentationFormat>
  <Paragraphs>162</Paragraphs>
  <Slides>28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3" baseType="lpstr">
      <vt:lpstr>Arial</vt:lpstr>
      <vt:lpstr>Cambria Math</vt:lpstr>
      <vt:lpstr>Noto Sans Symbols</vt:lpstr>
      <vt:lpstr>Times New Roman</vt:lpstr>
      <vt:lpstr>1_Blueprint</vt:lpstr>
      <vt:lpstr>Aula 13 e aula 14 Regressão múltipla</vt:lpstr>
      <vt:lpstr>Apresentação do PowerPoint</vt:lpstr>
      <vt:lpstr>Hipóteses</vt:lpstr>
      <vt:lpstr>Apresentação do PowerPoint</vt:lpstr>
      <vt:lpstr>Violações da Hipótese RLM.3</vt:lpstr>
      <vt:lpstr> </vt:lpstr>
      <vt:lpstr>Apresentação do PowerPoint</vt:lpstr>
      <vt:lpstr>Apresentação do PowerPoint</vt:lpstr>
      <vt:lpstr>O que acontece se a hipótese RLM.3 é violada?</vt:lpstr>
      <vt:lpstr>Saindo do exemplo da regressão de salário</vt:lpstr>
      <vt:lpstr>Apresentação do PowerPoint</vt:lpstr>
      <vt:lpstr>Apresentação do PowerPoint</vt:lpstr>
      <vt:lpstr>Variáveis não observadas</vt:lpstr>
      <vt:lpstr>Apresentação do PowerPoint</vt:lpstr>
      <vt:lpstr>Variâncias dos estimadores de MQO</vt:lpstr>
      <vt:lpstr>Apresentação do PowerPoint</vt:lpstr>
      <vt:lpstr>Variância do erro, σ^2</vt:lpstr>
      <vt:lpstr>Variação total em x_j</vt:lpstr>
      <vt:lpstr>R_j^2 </vt:lpstr>
      <vt:lpstr>Apresentação do PowerPoint</vt:lpstr>
      <vt:lpstr>Apresentação do PowerPoint</vt:lpstr>
      <vt:lpstr>Apresentação do PowerPoint</vt:lpstr>
      <vt:lpstr>Variâncias em modelos mal especificados</vt:lpstr>
      <vt:lpstr>Apresentação do PowerPoint</vt:lpstr>
      <vt:lpstr>E a variância?</vt:lpstr>
      <vt:lpstr> Assumindo que x_1 e x_2 saõ correlacionados podemos concluir</vt:lpstr>
      <vt:lpstr>Teorema de Gauss-Markov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RDD</dc:title>
  <dc:creator>Patricia M. Anderson</dc:creator>
  <cp:lastModifiedBy>wcorreiajr@gmail.com</cp:lastModifiedBy>
  <cp:revision>118</cp:revision>
  <dcterms:created xsi:type="dcterms:W3CDTF">1999-10-02T17:37:41Z</dcterms:created>
  <dcterms:modified xsi:type="dcterms:W3CDTF">2026-05-06T20:56:03Z</dcterms:modified>
</cp:coreProperties>
</file>