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409" r:id="rId2"/>
    <p:sldId id="395" r:id="rId3"/>
    <p:sldId id="396" r:id="rId4"/>
    <p:sldId id="397" r:id="rId5"/>
    <p:sldId id="398" r:id="rId6"/>
    <p:sldId id="394" r:id="rId7"/>
    <p:sldId id="393" r:id="rId8"/>
    <p:sldId id="400" r:id="rId9"/>
    <p:sldId id="374" r:id="rId10"/>
    <p:sldId id="410" r:id="rId11"/>
    <p:sldId id="376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401" r:id="rId20"/>
    <p:sldId id="384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gSOnBTX3+4WX6EN1RkpxStfZzD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DBD378-BD70-467B-9E15-E812A4FEF36B}" v="10" dt="2026-05-22T18:26:44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61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a Rocha" userId="190b7ccf4a003b3b" providerId="LiveId" clId="{88F75F10-EEC7-4A7E-A77F-5B7266B80D9B}"/>
    <pc:docChg chg="modSld">
      <pc:chgData name="Fabiana Rocha" userId="190b7ccf4a003b3b" providerId="LiveId" clId="{88F75F10-EEC7-4A7E-A77F-5B7266B80D9B}" dt="2026-05-22T18:34:59.572" v="204" actId="14100"/>
      <pc:docMkLst>
        <pc:docMk/>
      </pc:docMkLst>
      <pc:sldChg chg="modSp mod">
        <pc:chgData name="Fabiana Rocha" userId="190b7ccf4a003b3b" providerId="LiveId" clId="{88F75F10-EEC7-4A7E-A77F-5B7266B80D9B}" dt="2026-05-22T18:11:16.264" v="83" actId="14100"/>
        <pc:sldMkLst>
          <pc:docMk/>
          <pc:sldMk cId="515693274" sldId="374"/>
        </pc:sldMkLst>
        <pc:spChg chg="mod">
          <ac:chgData name="Fabiana Rocha" userId="190b7ccf4a003b3b" providerId="LiveId" clId="{88F75F10-EEC7-4A7E-A77F-5B7266B80D9B}" dt="2026-05-22T18:09:23.942" v="67" actId="14100"/>
          <ac:spMkLst>
            <pc:docMk/>
            <pc:sldMk cId="515693274" sldId="374"/>
            <ac:spMk id="2" creationId="{00000000-0000-0000-0000-000000000000}"/>
          </ac:spMkLst>
        </pc:spChg>
        <pc:spChg chg="mod">
          <ac:chgData name="Fabiana Rocha" userId="190b7ccf4a003b3b" providerId="LiveId" clId="{88F75F10-EEC7-4A7E-A77F-5B7266B80D9B}" dt="2026-05-22T18:10:13.116" v="71" actId="207"/>
          <ac:spMkLst>
            <pc:docMk/>
            <pc:sldMk cId="515693274" sldId="374"/>
            <ac:spMk id="4" creationId="{00000000-0000-0000-0000-000000000000}"/>
          </ac:spMkLst>
        </pc:spChg>
        <pc:picChg chg="mod">
          <ac:chgData name="Fabiana Rocha" userId="190b7ccf4a003b3b" providerId="LiveId" clId="{88F75F10-EEC7-4A7E-A77F-5B7266B80D9B}" dt="2026-05-22T18:11:16.264" v="83" actId="14100"/>
          <ac:picMkLst>
            <pc:docMk/>
            <pc:sldMk cId="515693274" sldId="374"/>
            <ac:picMk id="6" creationId="{D4535A80-E388-BA21-78C4-ABA4AFE4C43F}"/>
          </ac:picMkLst>
        </pc:picChg>
      </pc:sldChg>
      <pc:sldChg chg="modSp mod">
        <pc:chgData name="Fabiana Rocha" userId="190b7ccf4a003b3b" providerId="LiveId" clId="{88F75F10-EEC7-4A7E-A77F-5B7266B80D9B}" dt="2026-05-22T18:13:23.751" v="147" actId="207"/>
        <pc:sldMkLst>
          <pc:docMk/>
          <pc:sldMk cId="1217736012" sldId="376"/>
        </pc:sldMkLst>
        <pc:spChg chg="mod">
          <ac:chgData name="Fabiana Rocha" userId="190b7ccf4a003b3b" providerId="LiveId" clId="{88F75F10-EEC7-4A7E-A77F-5B7266B80D9B}" dt="2026-05-22T18:13:15.514" v="146" actId="207"/>
          <ac:spMkLst>
            <pc:docMk/>
            <pc:sldMk cId="1217736012" sldId="376"/>
            <ac:spMk id="4" creationId="{1E896220-2C62-5209-DAD8-B8146BB777CB}"/>
          </ac:spMkLst>
        </pc:spChg>
        <pc:spChg chg="mod">
          <ac:chgData name="Fabiana Rocha" userId="190b7ccf4a003b3b" providerId="LiveId" clId="{88F75F10-EEC7-4A7E-A77F-5B7266B80D9B}" dt="2026-05-22T18:13:23.751" v="147" actId="207"/>
          <ac:spMkLst>
            <pc:docMk/>
            <pc:sldMk cId="1217736012" sldId="376"/>
            <ac:spMk id="5" creationId="{9AC4DADC-5381-3B35-5250-CC608CAB31EF}"/>
          </ac:spMkLst>
        </pc:spChg>
        <pc:picChg chg="mod">
          <ac:chgData name="Fabiana Rocha" userId="190b7ccf4a003b3b" providerId="LiveId" clId="{88F75F10-EEC7-4A7E-A77F-5B7266B80D9B}" dt="2026-05-22T18:12:55.658" v="143" actId="1076"/>
          <ac:picMkLst>
            <pc:docMk/>
            <pc:sldMk cId="1217736012" sldId="376"/>
            <ac:picMk id="8" creationId="{80199D27-DC47-FFA0-9A88-F7748D1FA7CF}"/>
          </ac:picMkLst>
        </pc:picChg>
      </pc:sldChg>
      <pc:sldChg chg="modSp mod">
        <pc:chgData name="Fabiana Rocha" userId="190b7ccf4a003b3b" providerId="LiveId" clId="{88F75F10-EEC7-4A7E-A77F-5B7266B80D9B}" dt="2026-05-22T18:20:41.628" v="150" actId="207"/>
        <pc:sldMkLst>
          <pc:docMk/>
          <pc:sldMk cId="492857285" sldId="377"/>
        </pc:sldMkLst>
        <pc:spChg chg="mod">
          <ac:chgData name="Fabiana Rocha" userId="190b7ccf4a003b3b" providerId="LiveId" clId="{88F75F10-EEC7-4A7E-A77F-5B7266B80D9B}" dt="2026-05-22T18:20:41.628" v="150" actId="207"/>
          <ac:spMkLst>
            <pc:docMk/>
            <pc:sldMk cId="492857285" sldId="377"/>
            <ac:spMk id="4" creationId="{60C38627-D40C-ABEC-768E-A7F8B4541DA5}"/>
          </ac:spMkLst>
        </pc:spChg>
      </pc:sldChg>
      <pc:sldChg chg="modSp mod">
        <pc:chgData name="Fabiana Rocha" userId="190b7ccf4a003b3b" providerId="LiveId" clId="{88F75F10-EEC7-4A7E-A77F-5B7266B80D9B}" dt="2026-05-22T18:21:51.696" v="159" actId="207"/>
        <pc:sldMkLst>
          <pc:docMk/>
          <pc:sldMk cId="2816989303" sldId="378"/>
        </pc:sldMkLst>
        <pc:spChg chg="mod">
          <ac:chgData name="Fabiana Rocha" userId="190b7ccf4a003b3b" providerId="LiveId" clId="{88F75F10-EEC7-4A7E-A77F-5B7266B80D9B}" dt="2026-05-22T18:21:08.072" v="153" actId="207"/>
          <ac:spMkLst>
            <pc:docMk/>
            <pc:sldMk cId="2816989303" sldId="378"/>
            <ac:spMk id="2" creationId="{D30C31C1-782E-95FD-6184-6169E9D7CC06}"/>
          </ac:spMkLst>
        </pc:spChg>
        <pc:spChg chg="mod">
          <ac:chgData name="Fabiana Rocha" userId="190b7ccf4a003b3b" providerId="LiveId" clId="{88F75F10-EEC7-4A7E-A77F-5B7266B80D9B}" dt="2026-05-22T18:21:51.696" v="159" actId="207"/>
          <ac:spMkLst>
            <pc:docMk/>
            <pc:sldMk cId="2816989303" sldId="378"/>
            <ac:spMk id="5" creationId="{ED175B2A-6B2C-A67E-17DD-96D4F3E1B0B4}"/>
          </ac:spMkLst>
        </pc:spChg>
      </pc:sldChg>
      <pc:sldChg chg="modSp mod">
        <pc:chgData name="Fabiana Rocha" userId="190b7ccf4a003b3b" providerId="LiveId" clId="{88F75F10-EEC7-4A7E-A77F-5B7266B80D9B}" dt="2026-05-22T18:22:34.708" v="169" actId="20577"/>
        <pc:sldMkLst>
          <pc:docMk/>
          <pc:sldMk cId="1579830724" sldId="379"/>
        </pc:sldMkLst>
        <pc:spChg chg="mod">
          <ac:chgData name="Fabiana Rocha" userId="190b7ccf4a003b3b" providerId="LiveId" clId="{88F75F10-EEC7-4A7E-A77F-5B7266B80D9B}" dt="2026-05-22T18:22:02.903" v="160" actId="207"/>
          <ac:spMkLst>
            <pc:docMk/>
            <pc:sldMk cId="1579830724" sldId="379"/>
            <ac:spMk id="2" creationId="{CE7215DE-2802-CF69-8DA1-99A446CDFDE5}"/>
          </ac:spMkLst>
        </pc:spChg>
        <pc:spChg chg="mod">
          <ac:chgData name="Fabiana Rocha" userId="190b7ccf4a003b3b" providerId="LiveId" clId="{88F75F10-EEC7-4A7E-A77F-5B7266B80D9B}" dt="2026-05-22T18:22:34.708" v="169" actId="20577"/>
          <ac:spMkLst>
            <pc:docMk/>
            <pc:sldMk cId="1579830724" sldId="379"/>
            <ac:spMk id="5" creationId="{5E78EE12-EFCC-CD87-B601-4EA5B172ED5B}"/>
          </ac:spMkLst>
        </pc:spChg>
      </pc:sldChg>
      <pc:sldChg chg="modSp mod">
        <pc:chgData name="Fabiana Rocha" userId="190b7ccf4a003b3b" providerId="LiveId" clId="{88F75F10-EEC7-4A7E-A77F-5B7266B80D9B}" dt="2026-05-22T18:23:09.814" v="175" actId="14100"/>
        <pc:sldMkLst>
          <pc:docMk/>
          <pc:sldMk cId="104549767" sldId="380"/>
        </pc:sldMkLst>
        <pc:spChg chg="mod">
          <ac:chgData name="Fabiana Rocha" userId="190b7ccf4a003b3b" providerId="LiveId" clId="{88F75F10-EEC7-4A7E-A77F-5B7266B80D9B}" dt="2026-05-22T18:22:48.535" v="170" actId="207"/>
          <ac:spMkLst>
            <pc:docMk/>
            <pc:sldMk cId="104549767" sldId="380"/>
            <ac:spMk id="2" creationId="{50823254-1263-170E-1EDA-E477977B98A0}"/>
          </ac:spMkLst>
        </pc:spChg>
        <pc:spChg chg="mod">
          <ac:chgData name="Fabiana Rocha" userId="190b7ccf4a003b3b" providerId="LiveId" clId="{88F75F10-EEC7-4A7E-A77F-5B7266B80D9B}" dt="2026-05-22T18:23:09.814" v="175" actId="14100"/>
          <ac:spMkLst>
            <pc:docMk/>
            <pc:sldMk cId="104549767" sldId="380"/>
            <ac:spMk id="4" creationId="{88C60DC4-78AB-B4F7-B93C-1BEB7A9FDB74}"/>
          </ac:spMkLst>
        </pc:spChg>
      </pc:sldChg>
      <pc:sldChg chg="modSp mod">
        <pc:chgData name="Fabiana Rocha" userId="190b7ccf4a003b3b" providerId="LiveId" clId="{88F75F10-EEC7-4A7E-A77F-5B7266B80D9B}" dt="2026-05-22T18:24:44.564" v="181" actId="1076"/>
        <pc:sldMkLst>
          <pc:docMk/>
          <pc:sldMk cId="3504809325" sldId="381"/>
        </pc:sldMkLst>
        <pc:spChg chg="mod">
          <ac:chgData name="Fabiana Rocha" userId="190b7ccf4a003b3b" providerId="LiveId" clId="{88F75F10-EEC7-4A7E-A77F-5B7266B80D9B}" dt="2026-05-22T18:24:21.205" v="178" actId="207"/>
          <ac:spMkLst>
            <pc:docMk/>
            <pc:sldMk cId="3504809325" sldId="381"/>
            <ac:spMk id="2" creationId="{879962F6-703F-62EC-0FE8-C3711891CFFD}"/>
          </ac:spMkLst>
        </pc:spChg>
        <pc:spChg chg="mod">
          <ac:chgData name="Fabiana Rocha" userId="190b7ccf4a003b3b" providerId="LiveId" clId="{88F75F10-EEC7-4A7E-A77F-5B7266B80D9B}" dt="2026-05-22T18:24:40.076" v="180" actId="207"/>
          <ac:spMkLst>
            <pc:docMk/>
            <pc:sldMk cId="3504809325" sldId="381"/>
            <ac:spMk id="4" creationId="{A2E5B01E-79F0-03F8-6928-BEAA0159457A}"/>
          </ac:spMkLst>
        </pc:spChg>
        <pc:picChg chg="mod">
          <ac:chgData name="Fabiana Rocha" userId="190b7ccf4a003b3b" providerId="LiveId" clId="{88F75F10-EEC7-4A7E-A77F-5B7266B80D9B}" dt="2026-05-22T18:24:44.564" v="181" actId="1076"/>
          <ac:picMkLst>
            <pc:docMk/>
            <pc:sldMk cId="3504809325" sldId="381"/>
            <ac:picMk id="6" creationId="{38EB5CCD-FA7F-CC4A-02F6-CE10E4501282}"/>
          </ac:picMkLst>
        </pc:picChg>
      </pc:sldChg>
      <pc:sldChg chg="modSp mod">
        <pc:chgData name="Fabiana Rocha" userId="190b7ccf4a003b3b" providerId="LiveId" clId="{88F75F10-EEC7-4A7E-A77F-5B7266B80D9B}" dt="2026-05-22T18:25:16.218" v="186" actId="207"/>
        <pc:sldMkLst>
          <pc:docMk/>
          <pc:sldMk cId="2924590845" sldId="382"/>
        </pc:sldMkLst>
        <pc:spChg chg="mod">
          <ac:chgData name="Fabiana Rocha" userId="190b7ccf4a003b3b" providerId="LiveId" clId="{88F75F10-EEC7-4A7E-A77F-5B7266B80D9B}" dt="2026-05-22T18:25:16.218" v="186" actId="207"/>
          <ac:spMkLst>
            <pc:docMk/>
            <pc:sldMk cId="2924590845" sldId="382"/>
            <ac:spMk id="4" creationId="{5E9D32C8-FCDB-E456-BD68-99297D96192D}"/>
          </ac:spMkLst>
        </pc:spChg>
      </pc:sldChg>
      <pc:sldChg chg="modSp mod">
        <pc:chgData name="Fabiana Rocha" userId="190b7ccf4a003b3b" providerId="LiveId" clId="{88F75F10-EEC7-4A7E-A77F-5B7266B80D9B}" dt="2026-05-22T18:25:59.749" v="193" actId="20577"/>
        <pc:sldMkLst>
          <pc:docMk/>
          <pc:sldMk cId="463017996" sldId="383"/>
        </pc:sldMkLst>
        <pc:spChg chg="mod">
          <ac:chgData name="Fabiana Rocha" userId="190b7ccf4a003b3b" providerId="LiveId" clId="{88F75F10-EEC7-4A7E-A77F-5B7266B80D9B}" dt="2026-05-22T18:25:59.749" v="193" actId="20577"/>
          <ac:spMkLst>
            <pc:docMk/>
            <pc:sldMk cId="463017996" sldId="383"/>
            <ac:spMk id="2" creationId="{76033D2C-260A-33BB-3F79-EF500AA7975F}"/>
          </ac:spMkLst>
        </pc:spChg>
        <pc:spChg chg="mod">
          <ac:chgData name="Fabiana Rocha" userId="190b7ccf4a003b3b" providerId="LiveId" clId="{88F75F10-EEC7-4A7E-A77F-5B7266B80D9B}" dt="2026-05-22T18:25:55.954" v="192" actId="207"/>
          <ac:spMkLst>
            <pc:docMk/>
            <pc:sldMk cId="463017996" sldId="383"/>
            <ac:spMk id="4" creationId="{7FA6C74A-8E4D-3C85-BBAD-03C515C47A3E}"/>
          </ac:spMkLst>
        </pc:spChg>
      </pc:sldChg>
      <pc:sldChg chg="modSp mod">
        <pc:chgData name="Fabiana Rocha" userId="190b7ccf4a003b3b" providerId="LiveId" clId="{88F75F10-EEC7-4A7E-A77F-5B7266B80D9B}" dt="2026-05-22T18:34:59.572" v="204" actId="14100"/>
        <pc:sldMkLst>
          <pc:docMk/>
          <pc:sldMk cId="2935303208" sldId="384"/>
        </pc:sldMkLst>
        <pc:spChg chg="mod">
          <ac:chgData name="Fabiana Rocha" userId="190b7ccf4a003b3b" providerId="LiveId" clId="{88F75F10-EEC7-4A7E-A77F-5B7266B80D9B}" dt="2026-05-22T18:34:59.572" v="204" actId="14100"/>
          <ac:spMkLst>
            <pc:docMk/>
            <pc:sldMk cId="2935303208" sldId="384"/>
            <ac:spMk id="4" creationId="{A46FCFB8-BE7D-A59A-E1A2-C4C5659FE06D}"/>
          </ac:spMkLst>
        </pc:spChg>
      </pc:sldChg>
      <pc:sldChg chg="modSp mod">
        <pc:chgData name="Fabiana Rocha" userId="190b7ccf4a003b3b" providerId="LiveId" clId="{88F75F10-EEC7-4A7E-A77F-5B7266B80D9B}" dt="2026-05-22T18:08:24.613" v="60" actId="207"/>
        <pc:sldMkLst>
          <pc:docMk/>
          <pc:sldMk cId="696246821" sldId="393"/>
        </pc:sldMkLst>
        <pc:spChg chg="mod">
          <ac:chgData name="Fabiana Rocha" userId="190b7ccf4a003b3b" providerId="LiveId" clId="{88F75F10-EEC7-4A7E-A77F-5B7266B80D9B}" dt="2026-05-22T18:07:57.369" v="55" actId="207"/>
          <ac:spMkLst>
            <pc:docMk/>
            <pc:sldMk cId="696246821" sldId="393"/>
            <ac:spMk id="2" creationId="{87140F54-6AD0-8C07-4192-FB897145B552}"/>
          </ac:spMkLst>
        </pc:spChg>
        <pc:spChg chg="mod">
          <ac:chgData name="Fabiana Rocha" userId="190b7ccf4a003b3b" providerId="LiveId" clId="{88F75F10-EEC7-4A7E-A77F-5B7266B80D9B}" dt="2026-05-22T18:08:24.613" v="60" actId="207"/>
          <ac:spMkLst>
            <pc:docMk/>
            <pc:sldMk cId="696246821" sldId="393"/>
            <ac:spMk id="4" creationId="{A013BFC3-08F0-4A4D-E5D7-A8D7ED42EF36}"/>
          </ac:spMkLst>
        </pc:spChg>
      </pc:sldChg>
      <pc:sldChg chg="modSp mod">
        <pc:chgData name="Fabiana Rocha" userId="190b7ccf4a003b3b" providerId="LiveId" clId="{88F75F10-EEC7-4A7E-A77F-5B7266B80D9B}" dt="2026-05-22T18:07:42.635" v="53" actId="14100"/>
        <pc:sldMkLst>
          <pc:docMk/>
          <pc:sldMk cId="372258441" sldId="394"/>
        </pc:sldMkLst>
        <pc:spChg chg="mod">
          <ac:chgData name="Fabiana Rocha" userId="190b7ccf4a003b3b" providerId="LiveId" clId="{88F75F10-EEC7-4A7E-A77F-5B7266B80D9B}" dt="2026-05-22T18:07:42.635" v="53" actId="14100"/>
          <ac:spMkLst>
            <pc:docMk/>
            <pc:sldMk cId="372258441" sldId="394"/>
            <ac:spMk id="4" creationId="{828DC797-8584-0936-D6E2-048F5B00EC96}"/>
          </ac:spMkLst>
        </pc:spChg>
      </pc:sldChg>
      <pc:sldChg chg="modSp mod">
        <pc:chgData name="Fabiana Rocha" userId="190b7ccf4a003b3b" providerId="LiveId" clId="{88F75F10-EEC7-4A7E-A77F-5B7266B80D9B}" dt="2026-05-22T15:07:04.711" v="16" actId="14100"/>
        <pc:sldMkLst>
          <pc:docMk/>
          <pc:sldMk cId="3880437663" sldId="395"/>
        </pc:sldMkLst>
        <pc:spChg chg="mod">
          <ac:chgData name="Fabiana Rocha" userId="190b7ccf4a003b3b" providerId="LiveId" clId="{88F75F10-EEC7-4A7E-A77F-5B7266B80D9B}" dt="2026-05-22T15:06:40.476" v="11" actId="207"/>
          <ac:spMkLst>
            <pc:docMk/>
            <pc:sldMk cId="3880437663" sldId="395"/>
            <ac:spMk id="2" creationId="{2BFAA260-BFEA-C7AA-E535-B989C3DBEEA6}"/>
          </ac:spMkLst>
        </pc:spChg>
        <pc:spChg chg="mod">
          <ac:chgData name="Fabiana Rocha" userId="190b7ccf4a003b3b" providerId="LiveId" clId="{88F75F10-EEC7-4A7E-A77F-5B7266B80D9B}" dt="2026-05-22T15:07:04.711" v="16" actId="14100"/>
          <ac:spMkLst>
            <pc:docMk/>
            <pc:sldMk cId="3880437663" sldId="395"/>
            <ac:spMk id="4" creationId="{14F6FFEA-FAA1-FDCD-FC41-0CF69CFE61E6}"/>
          </ac:spMkLst>
        </pc:spChg>
      </pc:sldChg>
      <pc:sldChg chg="modSp mod">
        <pc:chgData name="Fabiana Rocha" userId="190b7ccf4a003b3b" providerId="LiveId" clId="{88F75F10-EEC7-4A7E-A77F-5B7266B80D9B}" dt="2026-05-22T15:07:42.870" v="23" actId="5793"/>
        <pc:sldMkLst>
          <pc:docMk/>
          <pc:sldMk cId="3202536711" sldId="396"/>
        </pc:sldMkLst>
        <pc:spChg chg="mod">
          <ac:chgData name="Fabiana Rocha" userId="190b7ccf4a003b3b" providerId="LiveId" clId="{88F75F10-EEC7-4A7E-A77F-5B7266B80D9B}" dt="2026-05-22T15:07:42.870" v="23" actId="5793"/>
          <ac:spMkLst>
            <pc:docMk/>
            <pc:sldMk cId="3202536711" sldId="396"/>
            <ac:spMk id="4" creationId="{91CFE347-8EB5-A3A9-4CC5-7B13625EBF27}"/>
          </ac:spMkLst>
        </pc:spChg>
      </pc:sldChg>
      <pc:sldChg chg="modSp mod">
        <pc:chgData name="Fabiana Rocha" userId="190b7ccf4a003b3b" providerId="LiveId" clId="{88F75F10-EEC7-4A7E-A77F-5B7266B80D9B}" dt="2026-05-22T15:08:20.036" v="28" actId="14100"/>
        <pc:sldMkLst>
          <pc:docMk/>
          <pc:sldMk cId="1748696106" sldId="397"/>
        </pc:sldMkLst>
        <pc:spChg chg="mod">
          <ac:chgData name="Fabiana Rocha" userId="190b7ccf4a003b3b" providerId="LiveId" clId="{88F75F10-EEC7-4A7E-A77F-5B7266B80D9B}" dt="2026-05-22T15:08:02.149" v="25" actId="14100"/>
          <ac:spMkLst>
            <pc:docMk/>
            <pc:sldMk cId="1748696106" sldId="397"/>
            <ac:spMk id="2" creationId="{D1D53B85-C2EF-C032-470E-A397C8C6BBF6}"/>
          </ac:spMkLst>
        </pc:spChg>
        <pc:spChg chg="mod">
          <ac:chgData name="Fabiana Rocha" userId="190b7ccf4a003b3b" providerId="LiveId" clId="{88F75F10-EEC7-4A7E-A77F-5B7266B80D9B}" dt="2026-05-22T15:08:20.036" v="28" actId="14100"/>
          <ac:spMkLst>
            <pc:docMk/>
            <pc:sldMk cId="1748696106" sldId="397"/>
            <ac:spMk id="4" creationId="{921F79AA-C1E0-5BBE-9FDB-77F1191DF64A}"/>
          </ac:spMkLst>
        </pc:spChg>
      </pc:sldChg>
      <pc:sldChg chg="modSp mod">
        <pc:chgData name="Fabiana Rocha" userId="190b7ccf4a003b3b" providerId="LiveId" clId="{88F75F10-EEC7-4A7E-A77F-5B7266B80D9B}" dt="2026-05-22T18:28:04.111" v="200" actId="207"/>
        <pc:sldMkLst>
          <pc:docMk/>
          <pc:sldMk cId="2548927894" sldId="398"/>
        </pc:sldMkLst>
        <pc:spChg chg="mod">
          <ac:chgData name="Fabiana Rocha" userId="190b7ccf4a003b3b" providerId="LiveId" clId="{88F75F10-EEC7-4A7E-A77F-5B7266B80D9B}" dt="2026-05-22T18:28:04.111" v="200" actId="207"/>
          <ac:spMkLst>
            <pc:docMk/>
            <pc:sldMk cId="2548927894" sldId="398"/>
            <ac:spMk id="2" creationId="{4508D6CD-A25F-275F-93E1-15D025DAF4F5}"/>
          </ac:spMkLst>
        </pc:spChg>
        <pc:spChg chg="mod">
          <ac:chgData name="Fabiana Rocha" userId="190b7ccf4a003b3b" providerId="LiveId" clId="{88F75F10-EEC7-4A7E-A77F-5B7266B80D9B}" dt="2026-05-22T18:00:20.852" v="33" actId="255"/>
          <ac:spMkLst>
            <pc:docMk/>
            <pc:sldMk cId="2548927894" sldId="398"/>
            <ac:spMk id="4" creationId="{CE3E06C4-DC88-2526-AC7F-69EC14EB517E}"/>
          </ac:spMkLst>
        </pc:spChg>
        <pc:picChg chg="mod">
          <ac:chgData name="Fabiana Rocha" userId="190b7ccf4a003b3b" providerId="LiveId" clId="{88F75F10-EEC7-4A7E-A77F-5B7266B80D9B}" dt="2026-05-22T18:00:29.735" v="36" actId="14100"/>
          <ac:picMkLst>
            <pc:docMk/>
            <pc:sldMk cId="2548927894" sldId="398"/>
            <ac:picMk id="6" creationId="{0835C5F9-0039-5A93-7855-3D78E7F9B53E}"/>
          </ac:picMkLst>
        </pc:picChg>
      </pc:sldChg>
      <pc:sldChg chg="modSp mod">
        <pc:chgData name="Fabiana Rocha" userId="190b7ccf4a003b3b" providerId="LiveId" clId="{88F75F10-EEC7-4A7E-A77F-5B7266B80D9B}" dt="2026-05-22T18:09:52.699" v="69" actId="207"/>
        <pc:sldMkLst>
          <pc:docMk/>
          <pc:sldMk cId="1496726341" sldId="400"/>
        </pc:sldMkLst>
        <pc:spChg chg="mod">
          <ac:chgData name="Fabiana Rocha" userId="190b7ccf4a003b3b" providerId="LiveId" clId="{88F75F10-EEC7-4A7E-A77F-5B7266B80D9B}" dt="2026-05-22T18:09:52.699" v="69" actId="207"/>
          <ac:spMkLst>
            <pc:docMk/>
            <pc:sldMk cId="1496726341" sldId="400"/>
            <ac:spMk id="4" creationId="{F2273FE3-4CCA-94AF-AAD8-0C124FA8F9BB}"/>
          </ac:spMkLst>
        </pc:spChg>
      </pc:sldChg>
      <pc:sldChg chg="modSp mod">
        <pc:chgData name="Fabiana Rocha" userId="190b7ccf4a003b3b" providerId="LiveId" clId="{88F75F10-EEC7-4A7E-A77F-5B7266B80D9B}" dt="2026-05-22T18:26:59.862" v="199" actId="14100"/>
        <pc:sldMkLst>
          <pc:docMk/>
          <pc:sldMk cId="2357436104" sldId="401"/>
        </pc:sldMkLst>
        <pc:spChg chg="mod">
          <ac:chgData name="Fabiana Rocha" userId="190b7ccf4a003b3b" providerId="LiveId" clId="{88F75F10-EEC7-4A7E-A77F-5B7266B80D9B}" dt="2026-05-22T18:26:59.862" v="199" actId="14100"/>
          <ac:spMkLst>
            <pc:docMk/>
            <pc:sldMk cId="2357436104" sldId="401"/>
            <ac:spMk id="4" creationId="{0E77C4E2-DAA0-46FF-7499-DB63A65FF00C}"/>
          </ac:spMkLst>
        </pc:spChg>
      </pc:sldChg>
      <pc:sldChg chg="modSp mod">
        <pc:chgData name="Fabiana Rocha" userId="190b7ccf4a003b3b" providerId="LiveId" clId="{88F75F10-EEC7-4A7E-A77F-5B7266B80D9B}" dt="2026-05-22T15:06:27.165" v="9" actId="207"/>
        <pc:sldMkLst>
          <pc:docMk/>
          <pc:sldMk cId="1263898008" sldId="409"/>
        </pc:sldMkLst>
        <pc:spChg chg="mod">
          <ac:chgData name="Fabiana Rocha" userId="190b7ccf4a003b3b" providerId="LiveId" clId="{88F75F10-EEC7-4A7E-A77F-5B7266B80D9B}" dt="2026-05-22T15:06:27.165" v="9" actId="207"/>
          <ac:spMkLst>
            <pc:docMk/>
            <pc:sldMk cId="1263898008" sldId="409"/>
            <ac:spMk id="5" creationId="{3915AAA2-E9C7-F9AC-7B4D-4DA73212B9F0}"/>
          </ac:spMkLst>
        </pc:spChg>
      </pc:sldChg>
      <pc:sldChg chg="modSp mod">
        <pc:chgData name="Fabiana Rocha" userId="190b7ccf4a003b3b" providerId="LiveId" clId="{88F75F10-EEC7-4A7E-A77F-5B7266B80D9B}" dt="2026-05-22T18:11:09.396" v="82" actId="14100"/>
        <pc:sldMkLst>
          <pc:docMk/>
          <pc:sldMk cId="2559332842" sldId="410"/>
        </pc:sldMkLst>
        <pc:spChg chg="mod">
          <ac:chgData name="Fabiana Rocha" userId="190b7ccf4a003b3b" providerId="LiveId" clId="{88F75F10-EEC7-4A7E-A77F-5B7266B80D9B}" dt="2026-05-22T18:10:40.515" v="76" actId="14100"/>
          <ac:spMkLst>
            <pc:docMk/>
            <pc:sldMk cId="2559332842" sldId="410"/>
            <ac:spMk id="2" creationId="{00000000-0000-0000-0000-000000000000}"/>
          </ac:spMkLst>
        </pc:spChg>
        <pc:spChg chg="mod">
          <ac:chgData name="Fabiana Rocha" userId="190b7ccf4a003b3b" providerId="LiveId" clId="{88F75F10-EEC7-4A7E-A77F-5B7266B80D9B}" dt="2026-05-22T18:10:53.747" v="78" actId="207"/>
          <ac:spMkLst>
            <pc:docMk/>
            <pc:sldMk cId="2559332842" sldId="410"/>
            <ac:spMk id="4" creationId="{00000000-0000-0000-0000-000000000000}"/>
          </ac:spMkLst>
        </pc:spChg>
        <pc:picChg chg="mod">
          <ac:chgData name="Fabiana Rocha" userId="190b7ccf4a003b3b" providerId="LiveId" clId="{88F75F10-EEC7-4A7E-A77F-5B7266B80D9B}" dt="2026-05-22T18:11:09.396" v="82" actId="14100"/>
          <ac:picMkLst>
            <pc:docMk/>
            <pc:sldMk cId="2559332842" sldId="410"/>
            <ac:picMk id="7" creationId="{7646E6F1-3200-4D24-48C5-6B0DD190B86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79179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>
            <a:spLocks noGrp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52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EE517-D236-4E3E-909C-EAAF4316CC70}" type="datetimeFigureOut">
              <a:rPr lang="pt-BR" smtClean="0"/>
              <a:pPr/>
              <a:t>22/05/2026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3740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8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1" name="Google Shape;11;p28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2" name="Google Shape;12;p28"/>
              <p:cNvSpPr txBox="1"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3" name="Google Shape;13;p28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14" name="Google Shape;14;p28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5" name="Google Shape;15;p28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6" name="Google Shape;16;p28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7" name="Google Shape;17;p28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8" name="Google Shape;18;p28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9" name="Google Shape;19;p28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0" name="Google Shape;20;p28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1" name="Google Shape;21;p28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2" name="Google Shape;22;p28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3" name="Google Shape;23;p28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4" name="Google Shape;24;p28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" name="Google Shape;25;p28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" name="Google Shape;26;p28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" name="Google Shape;27;p28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" name="Google Shape;28;p28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9" name="Google Shape;29;p28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0" name="Google Shape;30;p28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1" name="Google Shape;31;p28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2" name="Google Shape;32;p28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3" name="Google Shape;33;p28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4" name="Google Shape;34;p28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5" name="Google Shape;35;p28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6" name="Google Shape;36;p28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7" name="Google Shape;37;p28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8" name="Google Shape;38;p28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39" name="Google Shape;39;p28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0" name="Google Shape;40;p28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1" name="Google Shape;41;p28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2" name="Google Shape;42;p28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3" name="Google Shape;43;p28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4" name="Google Shape;44;p28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5" name="Google Shape;45;p28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6" name="Google Shape;46;p28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7" name="Google Shape;47;p28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8" name="Google Shape;48;p28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49" name="Google Shape;49;p28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0" name="Google Shape;50;p28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1" name="Google Shape;51;p28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2" name="Google Shape;52;p28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3" name="Google Shape;53;p28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4" name="Google Shape;54;p28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5" name="Google Shape;55;p28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6" name="Google Shape;56;p28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7" name="Google Shape;57;p28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8" name="Google Shape;58;p28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59" name="Google Shape;59;p28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0" name="Google Shape;60;p28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1" name="Google Shape;61;p28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2" name="Google Shape;62;p28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3" name="Google Shape;63;p28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64" name="Google Shape;64;p28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</p:grpSp>
          <p:cxnSp>
            <p:nvCxnSpPr>
              <p:cNvPr id="65" name="Google Shape;65;p28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6" name="Google Shape;66;p28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67" name="Google Shape;67;p28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8" name="Google Shape;68;p28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9" name="Google Shape;69;p28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0" name="Google Shape;70;p28"/>
              <p:cNvSpPr/>
              <p:nvPr/>
            </p:nvSpPr>
            <p:spPr>
              <a:xfrm rot="-5400000" flipH="1">
                <a:off x="425" y="860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1" name="Google Shape;71;p28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72" name="Google Shape;72;p28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73;p28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4" name="Google Shape;74;p28"/>
              <p:cNvSpPr/>
              <p:nvPr/>
            </p:nvSpPr>
            <p:spPr>
              <a:xfrm rot="5400000">
                <a:off x="5096" y="3346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0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400"/>
                  <a:buFont typeface="Arial"/>
                  <a:buNone/>
                </a:pPr>
                <a:endParaRPr sz="4400" b="0" i="0" u="none" strike="noStrike" cap="non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6" name="Google Shape;76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52119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520"/>
              <a:buFont typeface="Noto Sans Symbols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915AAA2-E9C7-F9AC-7B4D-4DA73212B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Aula 20 Variáveis </a:t>
            </a:r>
            <a:r>
              <a:rPr lang="pt-BR" sz="3600" i="1" dirty="0" err="1">
                <a:solidFill>
                  <a:schemeClr val="tx2">
                    <a:lumMod val="50000"/>
                  </a:schemeClr>
                </a:solidFill>
              </a:rPr>
              <a:t>dummy</a:t>
            </a:r>
            <a:endParaRPr lang="pt-BR" sz="3600" i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72DE6E62-3177-A5FE-8BCB-6CBAF094D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6E37E0C-1837-C2A0-4926-38E3B1909E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8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AA260-BFEA-C7AA-E535-B989C3DB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Informações ordinais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00D00D9-BBDC-BF4E-A083-B8393B86F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F6FFEA-FAA1-FDCD-FC41-0CF69CFE61E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66452"/>
            <a:ext cx="8229600" cy="2861187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Efeito do risco de crédito (CR) dos municípios sobre as taxas de juros dos títulos municipais (TTM)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Supor que o risco de crédito varie de zero a quatro: zero é o pior risco de crédito e quatro o melhor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Como incorporar CR em um modelo para explicar a variável TTM?</a:t>
            </a:r>
          </a:p>
          <a:p>
            <a:pPr marL="5081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0437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BAA0D-878E-A65B-EAE4-C2738B843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678FD81-D90B-C051-60C5-D5639631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3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91CFE347-8EB5-A3A9-4CC5-7B13625EBF2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2035277"/>
                <a:ext cx="8229600" cy="3693200"/>
              </a:xfrm>
            </p:spPr>
            <p:txBody>
              <a:bodyPr/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Como CR assume poucos valores é possível definir variáveis </a:t>
                </a:r>
                <a:r>
                  <a:rPr lang="pt-BR" sz="2800" i="1" dirty="0" err="1">
                    <a:solidFill>
                      <a:schemeClr val="accent5">
                        <a:lumMod val="10000"/>
                      </a:schemeClr>
                    </a:solidFill>
                  </a:rPr>
                  <a:t>dummy</a:t>
                </a:r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para cada valor de CR</a:t>
                </a:r>
              </a:p>
              <a:p>
                <a:pPr marL="5081" indent="0" algn="just">
                  <a:buNone/>
                </a:pPr>
                <a:endParaRPr lang="pt-BR" sz="2800" i="1" dirty="0">
                  <a:solidFill>
                    <a:schemeClr val="accent5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5081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𝐶𝑅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se CR=1;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𝐶𝑅</m:t>
                        </m:r>
                      </m:e>
                      <m:sub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se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𝐶𝑅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endParaRPr lang="pt-BR" sz="28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𝐶𝑅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se CR=2;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𝐶𝑅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i="1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se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𝐶𝑅</m:t>
                    </m:r>
                    <m:r>
                      <a:rPr lang="pt-BR" sz="28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≠2</m:t>
                    </m:r>
                  </m:oMath>
                </a14:m>
                <a:r>
                  <a:rPr lang="pt-BR" sz="2800" dirty="0">
                    <a:solidFill>
                      <a:schemeClr val="accent5">
                        <a:lumMod val="10000"/>
                      </a:schemeClr>
                    </a:solidFill>
                  </a:rPr>
                  <a:t> , etc...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5081" indent="0" algn="just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91CFE347-8EB5-A3A9-4CC5-7B13625EBF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2035277"/>
                <a:ext cx="8229600" cy="3693200"/>
              </a:xfrm>
              <a:blipFill>
                <a:blip r:embed="rId2"/>
                <a:stretch>
                  <a:fillRect l="-1852" t="-1650" r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536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53B85-C2EF-C032-470E-A397C8C6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04568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DD1A255-5390-9E10-1C3A-A297B8A5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921F79AA-C1E0-5BBE-9FDB-77F1191DF64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445342"/>
                <a:ext cx="8229600" cy="4670323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Como são cinco categorias de risco de crédito, incluir 4 variáveis </a:t>
                </a:r>
                <a:r>
                  <a:rPr lang="pt-BR" sz="2400" i="1" dirty="0" err="1">
                    <a:solidFill>
                      <a:schemeClr val="accent5">
                        <a:lumMod val="10000"/>
                      </a:schemeClr>
                    </a:solidFill>
                  </a:rPr>
                  <a:t>dummy</a:t>
                </a:r>
                <a:endParaRPr lang="pt-BR" sz="2400" i="1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Escolhendo risco de crédito zero como grupo base: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𝑇𝑇𝑀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𝐶𝑅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𝐶𝑅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𝐶𝑅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𝐶𝑅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𝑜𝑢𝑡𝑟𝑜𝑠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𝑓𝑎𝑡𝑜𝑟𝑒𝑠</m:t>
                      </m:r>
                    </m:oMath>
                  </m:oMathPara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Interpretação: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é a diferença em TTM entre uma cidade com um risco de crédito um e uma cidade com risco de crédito zero, mantidos os demais fatores constantes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é a diferença em TTM entre uma cidade com um risco de crédito dois e uma cidade com risco de crédito zero, mantidos os demais fatores constantes, etc...</a:t>
                </a:r>
              </a:p>
              <a:p>
                <a:pPr marL="5081" indent="0" algn="just">
                  <a:buNone/>
                </a:pPr>
                <a:endParaRPr lang="pt-BR" sz="2400" dirty="0"/>
              </a:p>
              <a:p>
                <a:pPr marL="5081" indent="0" algn="just">
                  <a:buNone/>
                </a:pPr>
                <a:endParaRPr lang="pt-BR" sz="24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921F79AA-C1E0-5BBE-9FDB-77F1191DF6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445342"/>
                <a:ext cx="8229600" cy="4670323"/>
              </a:xfrm>
              <a:blipFill>
                <a:blip r:embed="rId2"/>
                <a:stretch>
                  <a:fillRect l="-1111" t="-1044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696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8D6CD-A25F-275F-93E1-15D025DA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Interações entre variáveis </a:t>
            </a:r>
            <a:r>
              <a:rPr lang="pt-BR" sz="3600" i="1" dirty="0" err="1">
                <a:solidFill>
                  <a:schemeClr val="tx2">
                    <a:lumMod val="50000"/>
                  </a:schemeClr>
                </a:solidFill>
              </a:rPr>
              <a:t>dummy</a:t>
            </a:r>
            <a:endParaRPr lang="pt-BR" sz="3600" i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DCFFE29-9DD4-9CD1-9BDE-3440E6BBC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3E06C4-DC88-2526-AC7F-69EC14EB517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47683"/>
            <a:ext cx="8229600" cy="4080794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Vimos antes como interagir variáveis quantitativas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Podemos também interagir variáveis </a:t>
            </a:r>
            <a:r>
              <a:rPr lang="pt-BR" sz="2400" i="1" dirty="0" err="1">
                <a:solidFill>
                  <a:schemeClr val="accent5">
                    <a:lumMod val="10000"/>
                  </a:schemeClr>
                </a:solidFill>
              </a:rPr>
              <a:t>dummy</a:t>
            </a:r>
            <a:endParaRPr lang="pt-BR" sz="2400" i="1" dirty="0">
              <a:solidFill>
                <a:schemeClr val="accent5">
                  <a:lumMod val="10000"/>
                </a:schemeClr>
              </a:solidFill>
            </a:endParaRP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Interagir feminino com casado para que o prêmio por ser casado dependa do gênero como fizemos anteriormente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i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835C5F9-0039-5A93-7855-3D78E7F9B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75" y="3559277"/>
            <a:ext cx="6498824" cy="186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927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F600C-AA41-1CC8-CEB4-34E3D5E2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3430"/>
            <a:ext cx="7772400" cy="1061663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0D1D20B-F7B9-6AC1-781D-8F1D641D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8DC797-8584-0936-D6E2-048F5B00EC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89471"/>
            <a:ext cx="8229600" cy="3244645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Feminino = 0 e casado = 0 corresponde ao grupo de homens solteiros que é o grupo base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Intercepto de homens casados: feminino = 0 e casado =1 = 0,321 + 0,213 = 0,534, etc...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Equação acima é apenas uma maneira diferente de encontrar diferenciais de salários entre todas as combinações de gênero e estado civil                            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258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40F54-6AD0-8C07-4192-FB897145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Inclinações diferentes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254B58C-36EB-0637-2352-C928C5C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7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13BFC3-08F0-4A4D-E5D7-A8D7ED42EF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897626"/>
            <a:ext cx="8229600" cy="2930013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Supor que queremos verificar se o retorno da educação é o mesmo para homens e mulheres, considerando um diferencial de salários constante entre homens e mulheres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Para simplificar incluir somente educação e gênero no modelo</a:t>
            </a:r>
          </a:p>
        </p:txBody>
      </p:sp>
    </p:spTree>
    <p:extLst>
      <p:ext uri="{BB962C8B-B14F-4D97-AF65-F5344CB8AC3E}">
        <p14:creationId xmlns:p14="http://schemas.microsoft.com/office/powerpoint/2010/main" val="696246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4D816-2A1B-EBA6-B64D-5F90D3719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CDBCD4-79D1-3E0F-EA76-E3FD40B6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2273FE3-4CCA-94AF-AAD8-0C124FA8F9B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50141"/>
                <a:ext cx="8229600" cy="3716593"/>
              </a:xfrm>
            </p:spPr>
            <p:txBody>
              <a:bodyPr/>
              <a:lstStyle/>
              <a:p>
                <a:pPr marL="5081" indent="0" algn="just">
                  <a:buNone/>
                </a:pPr>
                <a:endParaRPr lang="pt-BR" sz="2800" dirty="0"/>
              </a:p>
              <a:p>
                <a:pPr marL="5081" indent="0" algn="just">
                  <a:buNone/>
                </a:pPr>
                <a:endParaRPr lang="pt-BR" sz="2800" dirty="0"/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400" dirty="0"/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Feminino = 0 Intercepto dos homens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Feminino = 1 Intercepto das mulheres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Homens Inclinação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Mulheres Inclinação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diferencial de salário entre homens e mulheres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diferença no retorno da educação entre homens e mulheres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F2273FE3-4CCA-94AF-AAD8-0C124FA8F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50141"/>
                <a:ext cx="8229600" cy="3716593"/>
              </a:xfrm>
              <a:blipFill>
                <a:blip r:embed="rId2"/>
                <a:stretch>
                  <a:fillRect l="-1111" b="-213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:a16="http://schemas.microsoft.com/office/drawing/2014/main" id="{277CD05C-5FF3-1949-75C3-860FF1307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917845"/>
            <a:ext cx="73723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26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22532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Gráfico 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457200" y="1412230"/>
            <a:ext cx="8229600" cy="4989326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O intercepto das mulheres está abaixo do intercepto dos homens e a inclinação da linha é menor para as mulheres do que para os homens. Isso significa que as mulheres ganham menos do que os homens qualquer que seja o nível de educação e a diferença aumenta à medida que o nível de escolaridade aumenta</a:t>
            </a:r>
          </a:p>
          <a:p>
            <a:pPr marL="5081" indent="0" algn="just">
              <a:buNone/>
            </a:pPr>
            <a:endParaRPr lang="pt-BR" sz="16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4535A80-E388-BA21-78C4-ABA4AFE4C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684" y="2743200"/>
            <a:ext cx="4227871" cy="270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93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73394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Gráfico b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457200" y="1412230"/>
            <a:ext cx="8229600" cy="4989326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5">
                    <a:lumMod val="10000"/>
                  </a:schemeClr>
                </a:solidFill>
              </a:rPr>
              <a:t>O intercepto das mulheres está abaixo do intercepto dos homens, mas a inclinação da educação é maior para as mulheres. Isso significa que as mulheres ganham menos que os homens quando o nível de educação é baixo, mas a diferença diminui conforme a educação aumenta. A partir de algum ponto, mulheres ganharão mais do que homens, dado o mesmo nível de educação</a:t>
            </a:r>
          </a:p>
          <a:p>
            <a:pPr marL="5081" indent="0" algn="just">
              <a:buNone/>
            </a:pPr>
            <a:endParaRPr lang="pt-BR" sz="1600" dirty="0"/>
          </a:p>
          <a:p>
            <a:pPr marL="5081" indent="0" algn="just">
              <a:buNone/>
            </a:pPr>
            <a:endParaRPr lang="pt-BR" sz="1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46E6F1-3200-4D24-48C5-6B0DD190B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20" y="2979175"/>
            <a:ext cx="4208206" cy="258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32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AC4DADC-5381-3B35-5250-CC608CAB3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Como estimar o modelo acima?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1F6D0ED-1B19-898F-4A92-1A479A318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896220-2C62-5209-DAD8-B8146BB777C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27123"/>
            <a:ext cx="8229600" cy="3480620"/>
          </a:xfrm>
        </p:spPr>
        <p:txBody>
          <a:bodyPr/>
          <a:lstStyle/>
          <a:p>
            <a:pPr marL="5081" indent="0" algn="just">
              <a:spcBef>
                <a:spcPts val="0"/>
              </a:spcBef>
              <a:buNone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Escrever o modelo com uma interação entre feminino e </a:t>
            </a:r>
            <a:r>
              <a:rPr lang="pt-BR" sz="2800" dirty="0" err="1">
                <a:solidFill>
                  <a:schemeClr val="accent5">
                    <a:lumMod val="10000"/>
                  </a:schemeClr>
                </a:solidFill>
              </a:rPr>
              <a:t>educ</a:t>
            </a: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:</a:t>
            </a:r>
          </a:p>
          <a:p>
            <a:pPr marL="5081" indent="0" algn="just">
              <a:buNone/>
            </a:pPr>
            <a:endParaRPr lang="pt-BR" dirty="0"/>
          </a:p>
          <a:p>
            <a:pPr marL="5081" indent="0" algn="just">
              <a:buNone/>
            </a:pPr>
            <a:endParaRPr lang="pt-BR" dirty="0"/>
          </a:p>
          <a:p>
            <a:pPr marL="5081" indent="0" algn="just">
              <a:spcBef>
                <a:spcPts val="0"/>
              </a:spcBef>
              <a:buNone/>
            </a:pPr>
            <a:r>
              <a:rPr lang="pt-BR" sz="2800" dirty="0" err="1">
                <a:solidFill>
                  <a:schemeClr val="accent5">
                    <a:lumMod val="10000"/>
                  </a:schemeClr>
                </a:solidFill>
              </a:rPr>
              <a:t>Feminio.educ</a:t>
            </a: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 será zero para qualquer homem na amostra e igual ao nível de educação de qualquer mulher na amostra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0199D27-DC47-FFA0-9A88-F7748D1FA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050087"/>
            <a:ext cx="7391400" cy="75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36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126DB-1D39-DB47-21A8-6305FD556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sz="3600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E4F4068-3DB5-5D62-4659-AAB6E8DF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60C38627-D40C-ABEC-768E-A7F8B4541DA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732900"/>
                <a:ext cx="8229600" cy="3802661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Hipótese 1: o retorno da educação é o mesmo para homens e mulheres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000" i="1" dirty="0">
                  <a:solidFill>
                    <a:schemeClr val="accent5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pt-BR" sz="20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0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0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Um diferencial de salários entre homens e mulheres está implícito nessa hipótese, mas ele deve ser o mesmo para todos os níveis de educação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0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000" dirty="0">
                    <a:solidFill>
                      <a:schemeClr val="accent5">
                        <a:lumMod val="10000"/>
                      </a:schemeClr>
                    </a:solidFill>
                  </a:rPr>
                  <a:t>Hipótese 2: os salários médios são idênticos para homens e mulheres que tenham os mesmos níveis de educação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:endParaRPr lang="pt-BR" sz="2000" i="1" dirty="0">
                  <a:solidFill>
                    <a:schemeClr val="accent5">
                      <a:lumMod val="1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pt-BR" sz="20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=0, 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i="1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000" dirty="0">
                  <a:solidFill>
                    <a:schemeClr val="accent5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60C38627-D40C-ABEC-768E-A7F8B4541D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732900"/>
                <a:ext cx="8229600" cy="3802661"/>
              </a:xfrm>
              <a:blipFill>
                <a:blip r:embed="rId2"/>
                <a:stretch>
                  <a:fillRect l="-741" t="-801" r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857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0C31C1-782E-95FD-6184-6169E9D7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73497"/>
            <a:ext cx="7772400" cy="733120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Avaliação de políticas públicas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99051A0-34A9-2323-3E0E-0ABA1574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13</a:t>
            </a:fld>
            <a:endParaRPr lang="pt-BR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D175B2A-6B2C-A67E-17DD-96D4F3E1B0B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36954"/>
            <a:ext cx="8229600" cy="3293807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Grupo de tratamento e grupo de controle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pt-BR" altLang="pt-BR" sz="2800" dirty="0">
                <a:solidFill>
                  <a:schemeClr val="accent5">
                    <a:lumMod val="10000"/>
                  </a:schemeClr>
                </a:solidFill>
              </a:rPr>
              <a:t>Principal problema na avaliação de impacto: encontrar um grupo de controle que represente adequadamente o contrafactual do grupo tratado, ou seja, um grupo de comparação que aproxime o melhor possível o que teria acontecido com o grupo tratado caso este não tivesse sofrido a intervenção</a:t>
            </a:r>
          </a:p>
          <a:p>
            <a:pPr marL="5081" indent="0" algn="just">
              <a:buNone/>
            </a:pPr>
            <a:endParaRPr lang="pt-BR" altLang="pt-BR" sz="3200" dirty="0"/>
          </a:p>
        </p:txBody>
      </p:sp>
    </p:spTree>
    <p:extLst>
      <p:ext uri="{BB962C8B-B14F-4D97-AF65-F5344CB8AC3E}">
        <p14:creationId xmlns:p14="http://schemas.microsoft.com/office/powerpoint/2010/main" val="2816989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215DE-2802-CF69-8DA1-99A446CD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solidFill>
                  <a:schemeClr val="tx2">
                    <a:lumMod val="50000"/>
                  </a:schemeClr>
                </a:solidFill>
              </a:rPr>
              <a:t>Experimento verdadeiro ou </a:t>
            </a:r>
            <a:r>
              <a:rPr lang="pt-BR" sz="3200" dirty="0" err="1">
                <a:solidFill>
                  <a:schemeClr val="tx2">
                    <a:lumMod val="50000"/>
                  </a:schemeClr>
                </a:solidFill>
              </a:rPr>
              <a:t>aleatorização</a:t>
            </a:r>
            <a:r>
              <a:rPr lang="pt-BR" sz="3200" dirty="0">
                <a:solidFill>
                  <a:schemeClr val="tx2">
                    <a:lumMod val="50000"/>
                  </a:schemeClr>
                </a:solidFill>
              </a:rPr>
              <a:t> (</a:t>
            </a:r>
            <a:r>
              <a:rPr lang="pt-BR" sz="3200" i="1" dirty="0" err="1">
                <a:solidFill>
                  <a:schemeClr val="tx2">
                    <a:lumMod val="50000"/>
                  </a:schemeClr>
                </a:solidFill>
              </a:rPr>
              <a:t>true</a:t>
            </a:r>
            <a:r>
              <a:rPr lang="pt-BR" sz="3200" i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pt-BR" sz="3200" i="1" dirty="0" err="1">
                <a:solidFill>
                  <a:schemeClr val="tx2">
                    <a:lumMod val="50000"/>
                  </a:schemeClr>
                </a:solidFill>
              </a:rPr>
              <a:t>experiment</a:t>
            </a:r>
            <a:r>
              <a:rPr lang="pt-BR" sz="3200" i="1" dirty="0">
                <a:solidFill>
                  <a:schemeClr val="tx2">
                    <a:lumMod val="50000"/>
                  </a:schemeClr>
                </a:solidFill>
              </a:rPr>
              <a:t> ou </a:t>
            </a:r>
            <a:r>
              <a:rPr lang="pt-BR" sz="3200" i="1" dirty="0" err="1">
                <a:solidFill>
                  <a:schemeClr val="tx2">
                    <a:lumMod val="50000"/>
                  </a:schemeClr>
                </a:solidFill>
              </a:rPr>
              <a:t>randomized</a:t>
            </a:r>
            <a:r>
              <a:rPr lang="pt-BR" sz="3200" i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pt-BR" sz="3200" i="1" dirty="0" err="1">
                <a:solidFill>
                  <a:schemeClr val="tx2">
                    <a:lumMod val="50000"/>
                  </a:schemeClr>
                </a:solidFill>
              </a:rPr>
              <a:t>experiment</a:t>
            </a:r>
            <a:r>
              <a:rPr lang="pt-BR" sz="3200" dirty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5CE206C-5747-DB85-87FB-ABE0F867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14</a:t>
            </a:fld>
            <a:endParaRPr lang="pt-BR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E78EE12-EFCC-CD87-B601-4EA5B172ED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99304"/>
            <a:ext cx="8229600" cy="3942736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</a:pP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Principal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componente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: 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seleção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aleatória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dos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indivíduos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,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famílias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,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etc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… que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farão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parte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dos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grupos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de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tratamento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e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controle</a:t>
            </a:r>
            <a:endParaRPr lang="en-US" altLang="pt-BR" sz="2400" dirty="0">
              <a:solidFill>
                <a:schemeClr val="accent5">
                  <a:lumMod val="10000"/>
                </a:schemeClr>
              </a:solidFill>
            </a:endParaRPr>
          </a:p>
          <a:p>
            <a:pPr algn="just" eaLnBrk="1" hangingPunct="1">
              <a:spcBef>
                <a:spcPts val="0"/>
              </a:spcBef>
            </a:pP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Isto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implica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que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cada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participante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tem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igual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probabilidade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de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estar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no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grupo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de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tratamento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ou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no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grupo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de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controle</a:t>
            </a:r>
            <a:endParaRPr lang="en-US" altLang="pt-BR" sz="2400" dirty="0">
              <a:solidFill>
                <a:schemeClr val="accent5">
                  <a:lumMod val="10000"/>
                </a:schemeClr>
              </a:solidFill>
            </a:endParaRPr>
          </a:p>
          <a:p>
            <a:pPr algn="just" eaLnBrk="1" hangingPunct="1">
              <a:spcBef>
                <a:spcPts val="0"/>
              </a:spcBef>
            </a:pP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Aleatorização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é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utilizada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em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diversas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áreas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,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principalmente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na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de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medicina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e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farmacêutica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.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Nas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ciências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sociais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o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problema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principal é a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falta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de um contrafactual.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Indivíduos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,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firmas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,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países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,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etc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…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usualmente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não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podem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ser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observados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com e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sem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tratamento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ao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pt-BR" sz="2400" dirty="0" err="1">
                <a:solidFill>
                  <a:schemeClr val="accent5">
                    <a:lumMod val="10000"/>
                  </a:schemeClr>
                </a:solidFill>
              </a:rPr>
              <a:t>mesmo</a:t>
            </a:r>
            <a:r>
              <a:rPr lang="en-US" altLang="pt-BR" sz="2400" dirty="0">
                <a:solidFill>
                  <a:schemeClr val="accent5">
                    <a:lumMod val="10000"/>
                  </a:schemeClr>
                </a:solidFill>
              </a:rPr>
              <a:t> tempo</a:t>
            </a:r>
          </a:p>
          <a:p>
            <a:pPr marL="5081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9830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23254-1263-170E-1EDA-E477977B9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1412"/>
            <a:ext cx="7772400" cy="1228098"/>
          </a:xfrm>
        </p:spPr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Métodos não experimentais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D67DF81-006B-699A-5E2C-60215C94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C60DC4-78AB-B4F7-B93C-1BEB7A9FDB7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828801"/>
            <a:ext cx="8229600" cy="3352800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altLang="pt-BR" sz="2400" dirty="0">
                <a:solidFill>
                  <a:schemeClr val="accent5">
                    <a:lumMod val="10000"/>
                  </a:schemeClr>
                </a:solidFill>
              </a:rPr>
              <a:t>Escolha dos grupos de controle e tratamento não é em geral feita aleatoriamente</a:t>
            </a:r>
          </a:p>
          <a:p>
            <a:pPr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altLang="pt-BR" sz="2400" dirty="0">
                <a:solidFill>
                  <a:schemeClr val="accent5">
                    <a:lumMod val="10000"/>
                  </a:schemeClr>
                </a:solidFill>
              </a:rPr>
              <a:t>Variedade de métodos distintos que, embora façam uso de hipóteses específicas para identificar o efeito causal do programa, procuram mimetizar o método experimental</a:t>
            </a:r>
          </a:p>
          <a:p>
            <a:pPr algn="just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altLang="pt-BR" sz="2400" dirty="0">
                <a:solidFill>
                  <a:schemeClr val="accent5">
                    <a:lumMod val="10000"/>
                  </a:schemeClr>
                </a:solidFill>
              </a:rPr>
              <a:t>Análise de regressão múltipla pode ser usada para controlar um número suficiente de outros fatores para estimar o efeito causal de uma política ou programa</a:t>
            </a:r>
          </a:p>
          <a:p>
            <a:pPr marL="5081" indent="0" algn="just">
              <a:buNone/>
            </a:pPr>
            <a:endParaRPr lang="pt-BR" sz="2800" i="1" dirty="0"/>
          </a:p>
        </p:txBody>
      </p:sp>
    </p:spTree>
    <p:extLst>
      <p:ext uri="{BB962C8B-B14F-4D97-AF65-F5344CB8AC3E}">
        <p14:creationId xmlns:p14="http://schemas.microsoft.com/office/powerpoint/2010/main" val="104549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962F6-703F-62EC-0FE8-C3711891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Exemplo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D0676D4-5824-0E66-DD5A-C682CCE1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16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E5B01E-79F0-03F8-6928-BEAA0159457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00151"/>
            <a:ext cx="8229600" cy="4080794"/>
          </a:xfrm>
        </p:spPr>
        <p:txBody>
          <a:bodyPr/>
          <a:lstStyle/>
          <a:p>
            <a:pPr marL="5081" indent="0" algn="just"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Variável dependente: horas de treinamento por empregado </a:t>
            </a:r>
          </a:p>
          <a:p>
            <a:pPr marL="5081" indent="0" algn="just"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Grant: </a:t>
            </a:r>
            <a:r>
              <a:rPr lang="pt-BR" sz="2000" i="1" dirty="0" err="1">
                <a:solidFill>
                  <a:schemeClr val="accent5">
                    <a:lumMod val="10000"/>
                  </a:schemeClr>
                </a:solidFill>
              </a:rPr>
              <a:t>dummy</a:t>
            </a: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 igual a 1 se a empresa recebeu um subsídio para treinamento dos seus empregados em 1988 e zero caso contrário</a:t>
            </a:r>
          </a:p>
          <a:p>
            <a:pPr marL="5081" indent="0" algn="just">
              <a:spcBef>
                <a:spcPts val="0"/>
              </a:spcBef>
              <a:buNone/>
            </a:pP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Sales: vendas anuais: </a:t>
            </a:r>
            <a:r>
              <a:rPr lang="pt-BR" sz="2000" dirty="0" err="1">
                <a:solidFill>
                  <a:schemeClr val="accent5">
                    <a:lumMod val="10000"/>
                  </a:schemeClr>
                </a:solidFill>
              </a:rPr>
              <a:t>Employ</a:t>
            </a:r>
            <a:r>
              <a:rPr lang="pt-BR" sz="2000" dirty="0">
                <a:solidFill>
                  <a:schemeClr val="accent5">
                    <a:lumMod val="10000"/>
                  </a:schemeClr>
                </a:solidFill>
              </a:rPr>
              <a:t> : número de empregados</a:t>
            </a:r>
            <a:endParaRPr lang="pt-BR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8EB5CCD-FA7F-CC4A-02F6-CE10E4501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76" y="3046411"/>
            <a:ext cx="6260524" cy="23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09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A2233-8664-3F14-68C9-FFDFD0A76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68CA654-2111-7B35-3685-3E1A009C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17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9D32C8-FCDB-E456-BD68-99297D96192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86117"/>
            <a:ext cx="8229600" cy="3342968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Empresas que receberam subsídios treinaram, em média, seus empregados 26,5 horas mais do que as empresas que não receberam subsídios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Como o número médio de horas de treinamento por empregado é 17, com um valor máximo de 164, </a:t>
            </a:r>
            <a:r>
              <a:rPr lang="pt-BR" sz="2800" i="1" dirty="0" err="1">
                <a:solidFill>
                  <a:schemeClr val="accent5">
                    <a:lumMod val="10000"/>
                  </a:schemeClr>
                </a:solidFill>
              </a:rPr>
              <a:t>subs</a:t>
            </a: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 tem um efeito grande sobre o treinamento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24590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33D2C-260A-33BB-3F79-EF500AA79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dirty="0">
                <a:solidFill>
                  <a:schemeClr val="tx2">
                    <a:lumMod val="50000"/>
                  </a:schemeClr>
                </a:solidFill>
              </a:rPr>
              <a:t>Problema de </a:t>
            </a:r>
            <a:r>
              <a:rPr lang="pt-BR" sz="3600" dirty="0" err="1">
                <a:solidFill>
                  <a:schemeClr val="tx2">
                    <a:lumMod val="50000"/>
                  </a:schemeClr>
                </a:solidFill>
              </a:rPr>
              <a:t>auto-seleção</a:t>
            </a:r>
            <a:endParaRPr lang="pt-BR" sz="3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BCAC20D-41B5-0746-C0B8-A2952276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18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A6C74A-8E4D-3C85-BBAD-03C515C47A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66452"/>
            <a:ext cx="8229600" cy="3136490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Os indivíduos, firmas, municípios, etc... literalmente se </a:t>
            </a:r>
            <a:r>
              <a:rPr lang="pt-BR" sz="2800" dirty="0" err="1">
                <a:solidFill>
                  <a:schemeClr val="accent5">
                    <a:lumMod val="10000"/>
                  </a:schemeClr>
                </a:solidFill>
              </a:rPr>
              <a:t>auto-selecionam</a:t>
            </a: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 para certos programas: a participação não é determinada de forma aleatória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accent5">
                    <a:lumMod val="10000"/>
                  </a:schemeClr>
                </a:solidFill>
              </a:rPr>
              <a:t>O termo é geralmente usado quando um indicador binário de participação puder estar sistematicamente relacionados com fatores não observados</a:t>
            </a:r>
          </a:p>
        </p:txBody>
      </p:sp>
    </p:spTree>
    <p:extLst>
      <p:ext uri="{BB962C8B-B14F-4D97-AF65-F5344CB8AC3E}">
        <p14:creationId xmlns:p14="http://schemas.microsoft.com/office/powerpoint/2010/main" val="463017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266E44-2ED5-F13B-42A1-E0D2846F9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367F079-C0E0-356C-8851-73B5D6440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19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0E77C4E2-DAA0-46FF-7499-DB63A65FF00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558245"/>
                <a:ext cx="8229600" cy="4429600"/>
              </a:xfrm>
            </p:spPr>
            <p:txBody>
              <a:bodyPr/>
              <a:lstStyle/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Escrevendo o modelo simples:</a:t>
                </a:r>
              </a:p>
              <a:p>
                <a:pPr marL="5081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accent5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𝑝𝑎𝑟𝑡𝑖𝑐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solidFill>
                            <a:schemeClr val="accent5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marL="5081" indent="0" algn="just">
                  <a:spcBef>
                    <a:spcPts val="0"/>
                  </a:spcBef>
                  <a:buNone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Onde </a:t>
                </a:r>
                <a:r>
                  <a:rPr lang="pt-BR" sz="2400" i="1" dirty="0">
                    <a:solidFill>
                      <a:schemeClr val="accent5">
                        <a:lumMod val="10000"/>
                      </a:schemeClr>
                    </a:solidFill>
                  </a:rPr>
                  <a:t>y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é a variável de resultado e </a:t>
                </a:r>
                <a:r>
                  <a:rPr lang="pt-BR" sz="2400" i="1" dirty="0" err="1">
                    <a:solidFill>
                      <a:schemeClr val="accent5">
                        <a:lumMod val="10000"/>
                      </a:schemeClr>
                    </a:solidFill>
                  </a:rPr>
                  <a:t>partic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é uma variável binária de o indivíduo, etc.. participa do programa 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Estamos preocupados que o valor médio de u dependa da participação: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𝑝𝑎𝑟𝑡𝑖𝑐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=1)≠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𝑝𝑎𝑟𝑡𝑖𝑐</m:t>
                    </m:r>
                    <m:r>
                      <a:rPr lang="pt-BR" sz="2400" b="0" i="1" smtClean="0">
                        <a:solidFill>
                          <a:schemeClr val="accent5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=0)</m:t>
                    </m:r>
                  </m:oMath>
                </a14:m>
                <a:endParaRPr lang="pt-BR" sz="2400" dirty="0">
                  <a:solidFill>
                    <a:schemeClr val="accent5">
                      <a:lumMod val="10000"/>
                    </a:schemeClr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Como sabemos, isso fará com que o estimador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chemeClr val="accent5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da regressão simples seja viesado e, portanto, não estimamos o efeito verdadeiro da participação</a:t>
                </a:r>
              </a:p>
              <a:p>
                <a:pPr algn="just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Assim, o problema de </a:t>
                </a:r>
                <a:r>
                  <a:rPr lang="pt-BR" sz="2400" dirty="0" err="1">
                    <a:solidFill>
                      <a:schemeClr val="accent5">
                        <a:lumMod val="10000"/>
                      </a:schemeClr>
                    </a:solidFill>
                  </a:rPr>
                  <a:t>auto-seleção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 é outra maneira de uma variável explicativa (no caso, </a:t>
                </a:r>
                <a:r>
                  <a:rPr lang="pt-BR" sz="2400" i="1" dirty="0" err="1">
                    <a:solidFill>
                      <a:schemeClr val="accent5">
                        <a:lumMod val="10000"/>
                      </a:schemeClr>
                    </a:solidFill>
                  </a:rPr>
                  <a:t>partic</a:t>
                </a:r>
                <a:r>
                  <a:rPr lang="pt-BR" sz="2400" dirty="0">
                    <a:solidFill>
                      <a:schemeClr val="accent5">
                        <a:lumMod val="10000"/>
                      </a:schemeClr>
                    </a:solidFill>
                  </a:rPr>
                  <a:t>) ser endógena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0E77C4E2-DAA0-46FF-7499-DB63A65FF0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558245"/>
                <a:ext cx="8229600" cy="4429600"/>
              </a:xfrm>
              <a:blipFill>
                <a:blip r:embed="rId2"/>
                <a:stretch>
                  <a:fillRect l="-1852" t="-1102" r="-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436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4838F-F48A-D33D-398D-A1B47746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18E4F22-9D95-E4E6-03B7-605287B6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FE2B-C99A-4407-AAEA-BD1358F13C92}" type="slidenum">
              <a:rPr lang="pt-BR" smtClean="0"/>
              <a:pPr/>
              <a:t>20</a:t>
            </a:fld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6FCFB8-BE7D-A59A-E1A2-C4C5659FE06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69806"/>
            <a:ext cx="8229600" cy="3736260"/>
          </a:xfrm>
        </p:spPr>
        <p:txBody>
          <a:bodyPr/>
          <a:lstStyle/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A análise de regressão múltipla pode até certo ponto aliviar o problema de </a:t>
            </a:r>
            <a:r>
              <a:rPr lang="pt-BR" sz="2400" dirty="0" err="1">
                <a:solidFill>
                  <a:schemeClr val="accent5">
                    <a:lumMod val="10000"/>
                  </a:schemeClr>
                </a:solidFill>
              </a:rPr>
              <a:t>auto-seleção</a:t>
            </a:r>
            <a:endParaRPr lang="pt-BR" sz="2400" dirty="0">
              <a:solidFill>
                <a:schemeClr val="accent5">
                  <a:lumMod val="10000"/>
                </a:schemeClr>
              </a:solidFill>
            </a:endParaRP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Fatores que estão no termo de erro que sejam correlacionados com </a:t>
            </a:r>
            <a:r>
              <a:rPr lang="pt-BR" sz="2400" dirty="0" err="1">
                <a:solidFill>
                  <a:schemeClr val="accent5">
                    <a:lumMod val="10000"/>
                  </a:schemeClr>
                </a:solidFill>
              </a:rPr>
              <a:t>partic</a:t>
            </a: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 podem ser incluídos em uma regressão múltipla desde que possam ser coletados dados desses fatores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Se fatores não observados estão relacionados com a participação, a regressão múltipla produzirá estimadores viesados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accent5">
                    <a:lumMod val="10000"/>
                  </a:schemeClr>
                </a:solidFill>
              </a:rPr>
              <a:t>Necessidade de métodos mais avançados (Econometria II)</a:t>
            </a:r>
          </a:p>
        </p:txBody>
      </p:sp>
    </p:spTree>
    <p:extLst>
      <p:ext uri="{BB962C8B-B14F-4D97-AF65-F5344CB8AC3E}">
        <p14:creationId xmlns:p14="http://schemas.microsoft.com/office/powerpoint/2010/main" val="2935303208"/>
      </p:ext>
    </p:extLst>
  </p:cSld>
  <p:clrMapOvr>
    <a:masterClrMapping/>
  </p:clrMapOvr>
</p:sld>
</file>

<file path=ppt/theme/theme1.xml><?xml version="1.0" encoding="utf-8"?>
<a:theme xmlns:a="http://schemas.openxmlformats.org/drawingml/2006/main" name="1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3018</TotalTime>
  <Words>1185</Words>
  <Application>Microsoft Office PowerPoint</Application>
  <PresentationFormat>Apresentação na tela (4:3)</PresentationFormat>
  <Paragraphs>102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Cambria Math</vt:lpstr>
      <vt:lpstr>Noto Sans Symbols</vt:lpstr>
      <vt:lpstr>Times New Roman</vt:lpstr>
      <vt:lpstr>1_Blueprint</vt:lpstr>
      <vt:lpstr>Aula 20 Variáveis dummy</vt:lpstr>
      <vt:lpstr>Informações ordinais</vt:lpstr>
      <vt:lpstr>Apresentação do PowerPoint</vt:lpstr>
      <vt:lpstr>Apresentação do PowerPoint</vt:lpstr>
      <vt:lpstr>Interações entre variáveis dummy</vt:lpstr>
      <vt:lpstr>Apresentação do PowerPoint</vt:lpstr>
      <vt:lpstr>Inclinações diferentes</vt:lpstr>
      <vt:lpstr>Apresentação do PowerPoint</vt:lpstr>
      <vt:lpstr>Gráfico a</vt:lpstr>
      <vt:lpstr>Gráfico b</vt:lpstr>
      <vt:lpstr>Como estimar o modelo acima?</vt:lpstr>
      <vt:lpstr>Apresentação do PowerPoint</vt:lpstr>
      <vt:lpstr>Avaliação de políticas públicas</vt:lpstr>
      <vt:lpstr>Experimento verdadeiro ou aleatorização (true experiment ou randomized experiment)</vt:lpstr>
      <vt:lpstr>Métodos não experimentais</vt:lpstr>
      <vt:lpstr>Exemplo</vt:lpstr>
      <vt:lpstr>Apresentação do PowerPoint</vt:lpstr>
      <vt:lpstr>Problema de auto-seleção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RDD</dc:title>
  <dc:creator>Patricia M. Anderson</dc:creator>
  <cp:lastModifiedBy>Fabiana Rocha</cp:lastModifiedBy>
  <cp:revision>139</cp:revision>
  <dcterms:created xsi:type="dcterms:W3CDTF">1999-10-02T17:37:41Z</dcterms:created>
  <dcterms:modified xsi:type="dcterms:W3CDTF">2026-05-22T18:35:05Z</dcterms:modified>
</cp:coreProperties>
</file>